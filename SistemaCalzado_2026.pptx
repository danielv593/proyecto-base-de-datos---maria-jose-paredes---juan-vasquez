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2000"/>
          </a:blip>
          <a:stretch>
            <a:fillRect/>
          </a:stretch>
        </p:blipFill>
        <p:spPr>
          <a:xfrm>
            <a:off x="8778240" y="4206240"/>
            <a:ext cx="3108960" cy="3108960"/>
          </a:xfrm>
          <a:prstGeom prst="rect">
            <a:avLst/>
          </a:prstGeom>
        </p:spPr>
      </p:pic>
      <p:sp>
        <p:nvSpPr>
          <p:cNvPr id="3" name="Shape 0"/>
          <p:cNvSpPr/>
          <p:nvPr/>
        </p:nvSpPr>
        <p:spPr>
          <a:xfrm>
            <a:off x="5684368" y="1417320"/>
            <a:ext cx="822960" cy="822960"/>
          </a:xfrm>
          <a:prstGeom prst="ellipse">
            <a:avLst/>
          </a:prstGeom>
          <a:solidFill>
            <a:srgbClr val="38BDF8"/>
          </a:solidFill>
          <a:ln/>
        </p:spPr>
      </p:sp>
      <p:pic>
        <p:nvPicPr>
          <p:cNvPr id="4" name="Image 1" descr="preencoded.png">    </p:cNvPr>
          <p:cNvPicPr>
            <a:picLocks noChangeAspect="1"/>
          </p:cNvPicPr>
          <p:nvPr/>
        </p:nvPicPr>
        <p:blipFill>
          <a:blip r:embed="rId2"/>
          <a:stretch>
            <a:fillRect/>
          </a:stretch>
        </p:blipFill>
        <p:spPr>
          <a:xfrm>
            <a:off x="5890108" y="1623060"/>
            <a:ext cx="411480" cy="411480"/>
          </a:xfrm>
          <a:prstGeom prst="rect">
            <a:avLst/>
          </a:prstGeom>
        </p:spPr>
      </p:pic>
      <p:sp>
        <p:nvSpPr>
          <p:cNvPr id="5" name="Text 1"/>
          <p:cNvSpPr/>
          <p:nvPr/>
        </p:nvSpPr>
        <p:spPr>
          <a:xfrm>
            <a:off x="731520" y="2514600"/>
            <a:ext cx="10728655" cy="100584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SistemaCalzado</a:t>
            </a:r>
            <a:pPr algn="ctr" indent="0" marL="0">
              <a:buNone/>
            </a:pPr>
            <a:r>
              <a:rPr lang="en-US" sz="4400" b="1" dirty="0">
                <a:solidFill>
                  <a:srgbClr val="38BDF8"/>
                </a:solidFill>
                <a:latin typeface="Calibri" pitchFamily="34" charset="0"/>
                <a:ea typeface="Calibri" pitchFamily="34" charset="-122"/>
                <a:cs typeface="Calibri" pitchFamily="34" charset="-120"/>
              </a:rPr>
              <a:t>_2026</a:t>
            </a:r>
            <a:endParaRPr lang="en-US" sz="4400" dirty="0"/>
          </a:p>
        </p:txBody>
      </p:sp>
      <p:sp>
        <p:nvSpPr>
          <p:cNvPr id="6" name="Text 2"/>
          <p:cNvSpPr/>
          <p:nvPr/>
        </p:nvSpPr>
        <p:spPr>
          <a:xfrm>
            <a:off x="1463040" y="3520440"/>
            <a:ext cx="9265615" cy="822960"/>
          </a:xfrm>
          <a:prstGeom prst="rect">
            <a:avLst/>
          </a:prstGeom>
          <a:noFill/>
          <a:ln/>
        </p:spPr>
        <p:txBody>
          <a:bodyPr wrap="square" rtlCol="0" anchor="ctr"/>
          <a:lstStyle/>
          <a:p>
            <a:pPr algn="ctr" indent="0" marL="0">
              <a:buNone/>
            </a:pPr>
            <a:r>
              <a:rPr lang="en-US" sz="1600" dirty="0">
                <a:solidFill>
                  <a:srgbClr val="C9D6E5"/>
                </a:solidFill>
                <a:latin typeface="Calibri" pitchFamily="34" charset="0"/>
                <a:ea typeface="Calibri" pitchFamily="34" charset="-122"/>
                <a:cs typeface="Calibri" pitchFamily="34" charset="-120"/>
              </a:rPr>
              <a:t>Arquitectura de Base de Datos para la Optimización Operativa, Facturación y Auditoría de Zapaterías.</a:t>
            </a:r>
            <a:endParaRPr lang="en-US" sz="1600" dirty="0"/>
          </a:p>
        </p:txBody>
      </p:sp>
      <p:sp>
        <p:nvSpPr>
          <p:cNvPr id="7" name="Shape 3"/>
          <p:cNvSpPr/>
          <p:nvPr/>
        </p:nvSpPr>
        <p:spPr>
          <a:xfrm>
            <a:off x="640080" y="6355080"/>
            <a:ext cx="292608" cy="292608"/>
          </a:xfrm>
          <a:prstGeom prst="ellipse">
            <a:avLst/>
          </a:prstGeom>
          <a:solidFill>
            <a:srgbClr val="38BDF8"/>
          </a:solidFill>
          <a:ln/>
        </p:spPr>
      </p:sp>
      <p:pic>
        <p:nvPicPr>
          <p:cNvPr id="8" name="Image 2" descr="preencoded.png">    </p:cNvPr>
          <p:cNvPicPr>
            <a:picLocks noChangeAspect="1"/>
          </p:cNvPicPr>
          <p:nvPr/>
        </p:nvPicPr>
        <p:blipFill>
          <a:blip r:embed="rId3"/>
          <a:stretch>
            <a:fillRect/>
          </a:stretch>
        </p:blipFill>
        <p:spPr>
          <a:xfrm>
            <a:off x="705917" y="6420917"/>
            <a:ext cx="160934" cy="160934"/>
          </a:xfrm>
          <a:prstGeom prst="rect">
            <a:avLst/>
          </a:prstGeom>
        </p:spPr>
      </p:pic>
      <p:sp>
        <p:nvSpPr>
          <p:cNvPr id="9" name="Text 4"/>
          <p:cNvSpPr/>
          <p:nvPr/>
        </p:nvSpPr>
        <p:spPr>
          <a:xfrm>
            <a:off x="1005840" y="6309360"/>
            <a:ext cx="7315200" cy="292608"/>
          </a:xfrm>
          <a:prstGeom prst="rect">
            <a:avLst/>
          </a:prstGeom>
          <a:noFill/>
          <a:ln/>
        </p:spPr>
        <p:txBody>
          <a:bodyPr wrap="square" rtlCol="0" anchor="ctr"/>
          <a:lstStyle/>
          <a:p>
            <a:pPr indent="0" marL="0">
              <a:buNone/>
            </a:pPr>
            <a:r>
              <a:rPr lang="en-US" sz="1200" b="1" dirty="0">
                <a:solidFill>
                  <a:srgbClr val="8FA3BF"/>
                </a:solidFill>
                <a:latin typeface="Calibri" pitchFamily="34" charset="0"/>
                <a:ea typeface="Calibri" pitchFamily="34" charset="-122"/>
                <a:cs typeface="Calibri" pitchFamily="34" charset="-120"/>
              </a:rPr>
              <a:t>Expositores: María José Paredes &amp; Juan Daniel Vásquez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¿Por qué elegimos </a:t>
            </a:r>
            <a:pPr algn="l" indent="0" marL="0">
              <a:buNone/>
            </a:pPr>
            <a:r>
              <a:rPr lang="en-US" sz="3200" b="1" dirty="0">
                <a:solidFill>
                  <a:srgbClr val="38BDF8"/>
                </a:solidFill>
                <a:latin typeface="Calibri" pitchFamily="34" charset="0"/>
                <a:ea typeface="Calibri" pitchFamily="34" charset="-122"/>
                <a:cs typeface="Calibri" pitchFamily="34" charset="-120"/>
              </a:rPr>
              <a:t>MySQL</a:t>
            </a:r>
            <a:pPr algn="l" indent="0" marL="0">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3" name="Shape 1"/>
          <p:cNvSpPr/>
          <p:nvPr/>
        </p:nvSpPr>
        <p:spPr>
          <a:xfrm>
            <a:off x="640080" y="1627632"/>
            <a:ext cx="457200" cy="457200"/>
          </a:xfrm>
          <a:prstGeom prst="ellipse">
            <a:avLst/>
          </a:prstGeom>
          <a:solidFill>
            <a:srgbClr val="38BDF8"/>
          </a:solidFill>
          <a:ln/>
        </p:spPr>
      </p:sp>
      <p:pic>
        <p:nvPicPr>
          <p:cNvPr id="4" name="Image 0" descr="preencoded.png">    </p:cNvPr>
          <p:cNvPicPr>
            <a:picLocks noChangeAspect="1"/>
          </p:cNvPicPr>
          <p:nvPr/>
        </p:nvPicPr>
        <p:blipFill>
          <a:blip r:embed="rId1"/>
          <a:stretch>
            <a:fillRect/>
          </a:stretch>
        </p:blipFill>
        <p:spPr>
          <a:xfrm>
            <a:off x="742950" y="1730502"/>
            <a:ext cx="251460" cy="251460"/>
          </a:xfrm>
          <a:prstGeom prst="rect">
            <a:avLst/>
          </a:prstGeom>
        </p:spPr>
      </p:pic>
      <p:sp>
        <p:nvSpPr>
          <p:cNvPr id="5" name="Text 2"/>
          <p:cNvSpPr/>
          <p:nvPr/>
        </p:nvSpPr>
        <p:spPr>
          <a:xfrm>
            <a:off x="1298448" y="1600200"/>
            <a:ext cx="5760720" cy="1078992"/>
          </a:xfrm>
          <a:prstGeom prst="rect">
            <a:avLst/>
          </a:prstGeom>
          <a:noFill/>
          <a:ln/>
        </p:spPr>
        <p:txBody>
          <a:bodyPr wrap="square" rtlCol="0" anchor="t"/>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Motor Relacional Robusto: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Ideal para centralizar inventarios, clientes y facturación con estricta integridad referencial.</a:t>
            </a:r>
            <a:endParaRPr lang="en-US" sz="1350" dirty="0"/>
          </a:p>
        </p:txBody>
      </p:sp>
      <p:sp>
        <p:nvSpPr>
          <p:cNvPr id="6" name="Shape 3"/>
          <p:cNvSpPr/>
          <p:nvPr/>
        </p:nvSpPr>
        <p:spPr>
          <a:xfrm>
            <a:off x="640080" y="2706624"/>
            <a:ext cx="457200" cy="457200"/>
          </a:xfrm>
          <a:prstGeom prst="ellipse">
            <a:avLst/>
          </a:prstGeom>
          <a:solidFill>
            <a:srgbClr val="8B5CF6"/>
          </a:solidFill>
          <a:ln/>
        </p:spPr>
      </p:sp>
      <p:pic>
        <p:nvPicPr>
          <p:cNvPr id="7" name="Image 1" descr="preencoded.png">    </p:cNvPr>
          <p:cNvPicPr>
            <a:picLocks noChangeAspect="1"/>
          </p:cNvPicPr>
          <p:nvPr/>
        </p:nvPicPr>
        <p:blipFill>
          <a:blip r:embed="rId2"/>
          <a:stretch>
            <a:fillRect/>
          </a:stretch>
        </p:blipFill>
        <p:spPr>
          <a:xfrm>
            <a:off x="742950" y="2809494"/>
            <a:ext cx="251460" cy="251460"/>
          </a:xfrm>
          <a:prstGeom prst="rect">
            <a:avLst/>
          </a:prstGeom>
        </p:spPr>
      </p:pic>
      <p:sp>
        <p:nvSpPr>
          <p:cNvPr id="8" name="Text 4"/>
          <p:cNvSpPr/>
          <p:nvPr/>
        </p:nvSpPr>
        <p:spPr>
          <a:xfrm>
            <a:off x="1298448" y="2679192"/>
            <a:ext cx="5760720" cy="1078992"/>
          </a:xfrm>
          <a:prstGeom prst="rect">
            <a:avLst/>
          </a:prstGeom>
          <a:noFill/>
          <a:ln/>
        </p:spPr>
        <p:txBody>
          <a:bodyPr wrap="square" rtlCol="0" anchor="t"/>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Cumplimiento ACID: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Garantiza que las transacciones financieras (ventas y compras) sean seguras y no se guarden a medias.</a:t>
            </a:r>
            <a:endParaRPr lang="en-US" sz="1350" dirty="0"/>
          </a:p>
        </p:txBody>
      </p:sp>
      <p:sp>
        <p:nvSpPr>
          <p:cNvPr id="9" name="Shape 5"/>
          <p:cNvSpPr/>
          <p:nvPr/>
        </p:nvSpPr>
        <p:spPr>
          <a:xfrm>
            <a:off x="640080" y="3785616"/>
            <a:ext cx="457200" cy="457200"/>
          </a:xfrm>
          <a:prstGeom prst="ellipse">
            <a:avLst/>
          </a:prstGeom>
          <a:solidFill>
            <a:srgbClr val="38BDF8"/>
          </a:solidFill>
          <a:ln/>
        </p:spPr>
      </p:sp>
      <p:pic>
        <p:nvPicPr>
          <p:cNvPr id="10" name="Image 2" descr="preencoded.png">    </p:cNvPr>
          <p:cNvPicPr>
            <a:picLocks noChangeAspect="1"/>
          </p:cNvPicPr>
          <p:nvPr/>
        </p:nvPicPr>
        <p:blipFill>
          <a:blip r:embed="rId3"/>
          <a:stretch>
            <a:fillRect/>
          </a:stretch>
        </p:blipFill>
        <p:spPr>
          <a:xfrm>
            <a:off x="742950" y="3888486"/>
            <a:ext cx="251460" cy="251460"/>
          </a:xfrm>
          <a:prstGeom prst="rect">
            <a:avLst/>
          </a:prstGeom>
        </p:spPr>
      </p:pic>
      <p:sp>
        <p:nvSpPr>
          <p:cNvPr id="11" name="Text 6"/>
          <p:cNvSpPr/>
          <p:nvPr/>
        </p:nvSpPr>
        <p:spPr>
          <a:xfrm>
            <a:off x="1298448" y="3758184"/>
            <a:ext cx="5760720" cy="1078992"/>
          </a:xfrm>
          <a:prstGeom prst="rect">
            <a:avLst/>
          </a:prstGeom>
          <a:noFill/>
          <a:ln/>
        </p:spPr>
        <p:txBody>
          <a:bodyPr wrap="square" rtlCol="0" anchor="t"/>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Automatización Nativa: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Excelente soporte para Triggers y Procedimientos Almacenados que ejecutan la lógica del negocio.</a:t>
            </a:r>
            <a:endParaRPr lang="en-US" sz="1350" dirty="0"/>
          </a:p>
        </p:txBody>
      </p:sp>
      <p:sp>
        <p:nvSpPr>
          <p:cNvPr id="12" name="Shape 7"/>
          <p:cNvSpPr/>
          <p:nvPr/>
        </p:nvSpPr>
        <p:spPr>
          <a:xfrm>
            <a:off x="640080" y="4864608"/>
            <a:ext cx="457200" cy="457200"/>
          </a:xfrm>
          <a:prstGeom prst="ellipse">
            <a:avLst/>
          </a:prstGeom>
          <a:solidFill>
            <a:srgbClr val="8B5CF6"/>
          </a:solidFill>
          <a:ln/>
        </p:spPr>
      </p:sp>
      <p:pic>
        <p:nvPicPr>
          <p:cNvPr id="13" name="Image 3" descr="preencoded.png">    </p:cNvPr>
          <p:cNvPicPr>
            <a:picLocks noChangeAspect="1"/>
          </p:cNvPicPr>
          <p:nvPr/>
        </p:nvPicPr>
        <p:blipFill>
          <a:blip r:embed="rId4"/>
          <a:stretch>
            <a:fillRect/>
          </a:stretch>
        </p:blipFill>
        <p:spPr>
          <a:xfrm>
            <a:off x="742950" y="4967478"/>
            <a:ext cx="251460" cy="251460"/>
          </a:xfrm>
          <a:prstGeom prst="rect">
            <a:avLst/>
          </a:prstGeom>
        </p:spPr>
      </p:pic>
      <p:sp>
        <p:nvSpPr>
          <p:cNvPr id="14" name="Text 8"/>
          <p:cNvSpPr/>
          <p:nvPr/>
        </p:nvSpPr>
        <p:spPr>
          <a:xfrm>
            <a:off x="1298448" y="4837176"/>
            <a:ext cx="5760720" cy="1078992"/>
          </a:xfrm>
          <a:prstGeom prst="rect">
            <a:avLst/>
          </a:prstGeom>
          <a:noFill/>
          <a:ln/>
        </p:spPr>
        <p:txBody>
          <a:bodyPr wrap="square" rtlCol="0" anchor="t"/>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Seguridad Avanzada: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Permite un Control de Acceso Basado en Roles (RBAC) granular para cada tipo de empleado.</a:t>
            </a:r>
            <a:endParaRPr lang="en-US" sz="1350" dirty="0"/>
          </a:p>
        </p:txBody>
      </p:sp>
      <p:sp>
        <p:nvSpPr>
          <p:cNvPr id="15" name="Shape 9"/>
          <p:cNvSpPr/>
          <p:nvPr/>
        </p:nvSpPr>
        <p:spPr>
          <a:xfrm>
            <a:off x="7863840" y="2148840"/>
            <a:ext cx="2834640" cy="2834640"/>
          </a:xfrm>
          <a:prstGeom prst="ellipse">
            <a:avLst/>
          </a:prstGeom>
          <a:solidFill>
            <a:srgbClr val="1B2A45"/>
          </a:solidFill>
          <a:ln/>
        </p:spPr>
      </p:sp>
      <p:sp>
        <p:nvSpPr>
          <p:cNvPr id="16" name="Shape 10"/>
          <p:cNvSpPr/>
          <p:nvPr/>
        </p:nvSpPr>
        <p:spPr>
          <a:xfrm>
            <a:off x="8778240" y="3063240"/>
            <a:ext cx="1005840" cy="1005840"/>
          </a:xfrm>
          <a:prstGeom prst="ellipse">
            <a:avLst/>
          </a:prstGeom>
          <a:solidFill>
            <a:srgbClr val="38BDF8"/>
          </a:solidFill>
          <a:ln/>
        </p:spPr>
      </p:sp>
      <p:pic>
        <p:nvPicPr>
          <p:cNvPr id="17" name="Image 4" descr="preencoded.png">    </p:cNvPr>
          <p:cNvPicPr>
            <a:picLocks noChangeAspect="1"/>
          </p:cNvPicPr>
          <p:nvPr/>
        </p:nvPicPr>
        <p:blipFill>
          <a:blip r:embed="rId5"/>
          <a:stretch>
            <a:fillRect/>
          </a:stretch>
        </p:blipFill>
        <p:spPr>
          <a:xfrm>
            <a:off x="9029700" y="3314700"/>
            <a:ext cx="502920" cy="502920"/>
          </a:xfrm>
          <a:prstGeom prst="rect">
            <a:avLst/>
          </a:prstGeom>
        </p:spPr>
      </p:pic>
      <p:sp>
        <p:nvSpPr>
          <p:cNvPr id="18" name="Shape 11"/>
          <p:cNvSpPr/>
          <p:nvPr/>
        </p:nvSpPr>
        <p:spPr>
          <a:xfrm>
            <a:off x="7589520" y="2514600"/>
            <a:ext cx="548640" cy="548640"/>
          </a:xfrm>
          <a:prstGeom prst="ellipse">
            <a:avLst/>
          </a:prstGeom>
          <a:solidFill>
            <a:srgbClr val="8B5CF6"/>
          </a:solidFill>
          <a:ln/>
        </p:spPr>
      </p:sp>
      <p:pic>
        <p:nvPicPr>
          <p:cNvPr id="19" name="Image 5" descr="preencoded.png">    </p:cNvPr>
          <p:cNvPicPr>
            <a:picLocks noChangeAspect="1"/>
          </p:cNvPicPr>
          <p:nvPr/>
        </p:nvPicPr>
        <p:blipFill>
          <a:blip r:embed="rId6"/>
          <a:stretch>
            <a:fillRect/>
          </a:stretch>
        </p:blipFill>
        <p:spPr>
          <a:xfrm>
            <a:off x="7712964" y="2638044"/>
            <a:ext cx="301752" cy="301752"/>
          </a:xfrm>
          <a:prstGeom prst="rect">
            <a:avLst/>
          </a:prstGeom>
        </p:spPr>
      </p:pic>
      <p:sp>
        <p:nvSpPr>
          <p:cNvPr id="20" name="Shape 12"/>
          <p:cNvSpPr/>
          <p:nvPr/>
        </p:nvSpPr>
        <p:spPr>
          <a:xfrm>
            <a:off x="10515600" y="2514600"/>
            <a:ext cx="548640" cy="548640"/>
          </a:xfrm>
          <a:prstGeom prst="ellipse">
            <a:avLst/>
          </a:prstGeom>
          <a:solidFill>
            <a:srgbClr val="8B5CF6"/>
          </a:solidFill>
          <a:ln/>
        </p:spPr>
      </p:sp>
      <p:pic>
        <p:nvPicPr>
          <p:cNvPr id="21" name="Image 6" descr="preencoded.png">    </p:cNvPr>
          <p:cNvPicPr>
            <a:picLocks noChangeAspect="1"/>
          </p:cNvPicPr>
          <p:nvPr/>
        </p:nvPicPr>
        <p:blipFill>
          <a:blip r:embed="rId7"/>
          <a:stretch>
            <a:fillRect/>
          </a:stretch>
        </p:blipFill>
        <p:spPr>
          <a:xfrm>
            <a:off x="10639044" y="2638044"/>
            <a:ext cx="301752" cy="301752"/>
          </a:xfrm>
          <a:prstGeom prst="rect">
            <a:avLst/>
          </a:prstGeom>
        </p:spPr>
      </p:pic>
      <p:sp>
        <p:nvSpPr>
          <p:cNvPr id="22" name="Shape 13"/>
          <p:cNvSpPr/>
          <p:nvPr/>
        </p:nvSpPr>
        <p:spPr>
          <a:xfrm>
            <a:off x="9052560" y="4937760"/>
            <a:ext cx="548640" cy="548640"/>
          </a:xfrm>
          <a:prstGeom prst="ellipse">
            <a:avLst/>
          </a:prstGeom>
          <a:solidFill>
            <a:srgbClr val="8B5CF6"/>
          </a:solidFill>
          <a:ln/>
        </p:spPr>
      </p:sp>
      <p:pic>
        <p:nvPicPr>
          <p:cNvPr id="23" name="Image 7" descr="preencoded.png">    </p:cNvPr>
          <p:cNvPicPr>
            <a:picLocks noChangeAspect="1"/>
          </p:cNvPicPr>
          <p:nvPr/>
        </p:nvPicPr>
        <p:blipFill>
          <a:blip r:embed="rId8"/>
          <a:stretch>
            <a:fillRect/>
          </a:stretch>
        </p:blipFill>
        <p:spPr>
          <a:xfrm>
            <a:off x="9176004" y="5061204"/>
            <a:ext cx="301752" cy="301752"/>
          </a:xfrm>
          <a:prstGeom prst="rect">
            <a:avLst/>
          </a:prstGeom>
        </p:spPr>
      </p:pic>
      <p:sp>
        <p:nvSpPr>
          <p:cNvPr id="24" name="Shape 14"/>
          <p:cNvSpPr/>
          <p:nvPr/>
        </p:nvSpPr>
        <p:spPr>
          <a:xfrm>
            <a:off x="640080" y="6446520"/>
            <a:ext cx="274320" cy="274320"/>
          </a:xfrm>
          <a:prstGeom prst="ellipse">
            <a:avLst/>
          </a:prstGeom>
          <a:solidFill>
            <a:srgbClr val="38BDF8"/>
          </a:solidFill>
          <a:ln/>
        </p:spPr>
      </p:sp>
      <p:pic>
        <p:nvPicPr>
          <p:cNvPr id="25" name="Image 8" descr="preencoded.png">    </p:cNvPr>
          <p:cNvPicPr>
            <a:picLocks noChangeAspect="1"/>
          </p:cNvPicPr>
          <p:nvPr/>
        </p:nvPicPr>
        <p:blipFill>
          <a:blip r:embed="rId9"/>
          <a:stretch>
            <a:fillRect/>
          </a:stretch>
        </p:blipFill>
        <p:spPr>
          <a:xfrm>
            <a:off x="701802" y="6508242"/>
            <a:ext cx="150876" cy="150876"/>
          </a:xfrm>
          <a:prstGeom prst="rect">
            <a:avLst/>
          </a:prstGeom>
        </p:spPr>
      </p:pic>
      <p:sp>
        <p:nvSpPr>
          <p:cNvPr id="26" name="Text 15"/>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Daniel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Hitos del </a:t>
            </a:r>
            <a:pPr algn="l" indent="0" marL="0">
              <a:buNone/>
            </a:pPr>
            <a:r>
              <a:rPr lang="en-US" sz="3200" b="1" dirty="0">
                <a:solidFill>
                  <a:srgbClr val="38BDF8"/>
                </a:solidFill>
                <a:latin typeface="Calibri" pitchFamily="34" charset="0"/>
                <a:ea typeface="Calibri" pitchFamily="34" charset="-122"/>
                <a:cs typeface="Calibri" pitchFamily="34" charset="-120"/>
              </a:rPr>
              <a:t>Proyecto</a:t>
            </a:r>
            <a:endParaRPr lang="en-US" sz="3200" dirty="0"/>
          </a:p>
        </p:txBody>
      </p:sp>
      <p:sp>
        <p:nvSpPr>
          <p:cNvPr id="3" name="Shape 1"/>
          <p:cNvSpPr/>
          <p:nvPr/>
        </p:nvSpPr>
        <p:spPr>
          <a:xfrm>
            <a:off x="640080" y="1737360"/>
            <a:ext cx="3429000" cy="3429000"/>
          </a:xfrm>
          <a:prstGeom prst="roundRect">
            <a:avLst>
              <a:gd name="adj" fmla="val 3200"/>
            </a:avLst>
          </a:prstGeom>
          <a:solidFill>
            <a:srgbClr val="15223A"/>
          </a:solidFill>
          <a:ln/>
          <a:effectLst>
            <a:outerShdw sx="100000" sy="100000" kx="0" ky="0" algn="bl" rotWithShape="0" blurRad="101600" dist="38100" dir="5400000">
              <a:srgbClr val="000000">
                <a:alpha val="35000"/>
              </a:srgbClr>
            </a:outerShdw>
          </a:effectLst>
        </p:spPr>
      </p:sp>
      <p:sp>
        <p:nvSpPr>
          <p:cNvPr id="4" name="Shape 2"/>
          <p:cNvSpPr/>
          <p:nvPr/>
        </p:nvSpPr>
        <p:spPr>
          <a:xfrm>
            <a:off x="1988820" y="2148840"/>
            <a:ext cx="731520" cy="731520"/>
          </a:xfrm>
          <a:prstGeom prst="ellipse">
            <a:avLst/>
          </a:prstGeom>
          <a:solidFill>
            <a:srgbClr val="38BDF8"/>
          </a:solidFill>
          <a:ln/>
        </p:spPr>
      </p:sp>
      <p:pic>
        <p:nvPicPr>
          <p:cNvPr id="5" name="Image 0" descr="preencoded.png">    </p:cNvPr>
          <p:cNvPicPr>
            <a:picLocks noChangeAspect="1"/>
          </p:cNvPicPr>
          <p:nvPr/>
        </p:nvPicPr>
        <p:blipFill>
          <a:blip r:embed="rId1"/>
          <a:stretch>
            <a:fillRect/>
          </a:stretch>
        </p:blipFill>
        <p:spPr>
          <a:xfrm>
            <a:off x="2171700" y="2331720"/>
            <a:ext cx="365760" cy="365760"/>
          </a:xfrm>
          <a:prstGeom prst="rect">
            <a:avLst/>
          </a:prstGeom>
        </p:spPr>
      </p:pic>
      <p:sp>
        <p:nvSpPr>
          <p:cNvPr id="6" name="Text 3"/>
          <p:cNvSpPr/>
          <p:nvPr/>
        </p:nvSpPr>
        <p:spPr>
          <a:xfrm>
            <a:off x="868680" y="3154680"/>
            <a:ext cx="2971800" cy="64008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12 Tablas Estructuradas</a:t>
            </a:r>
            <a:endParaRPr lang="en-US" sz="1700" dirty="0"/>
          </a:p>
        </p:txBody>
      </p:sp>
      <p:sp>
        <p:nvSpPr>
          <p:cNvPr id="7" name="Text 4"/>
          <p:cNvSpPr/>
          <p:nvPr/>
        </p:nvSpPr>
        <p:spPr>
          <a:xfrm>
            <a:off x="914400" y="3794760"/>
            <a:ext cx="2880360" cy="1188720"/>
          </a:xfrm>
          <a:prstGeom prst="rect">
            <a:avLst/>
          </a:prstGeom>
          <a:noFill/>
          <a:ln/>
        </p:spPr>
        <p:txBody>
          <a:bodyPr wrap="square" rtlCol="0" anchor="t"/>
          <a:lstStyle/>
          <a:p>
            <a:pPr algn="ctr" indent="0" marL="0">
              <a:buNone/>
            </a:pPr>
            <a:r>
              <a:rPr lang="en-US" sz="1250" dirty="0">
                <a:solidFill>
                  <a:srgbClr val="C9D6E5"/>
                </a:solidFill>
                <a:latin typeface="Calibri" pitchFamily="34" charset="0"/>
                <a:ea typeface="Calibri" pitchFamily="34" charset="-122"/>
                <a:cs typeface="Calibri" pitchFamily="34" charset="-120"/>
              </a:rPr>
              <a:t>Base de datos modelada desde cero y normalizada hasta la 3FN, erradicando redundancias de sistemas antiguos.</a:t>
            </a:r>
            <a:endParaRPr lang="en-US" sz="1250" dirty="0"/>
          </a:p>
        </p:txBody>
      </p:sp>
      <p:sp>
        <p:nvSpPr>
          <p:cNvPr id="8" name="Shape 5"/>
          <p:cNvSpPr/>
          <p:nvPr/>
        </p:nvSpPr>
        <p:spPr>
          <a:xfrm>
            <a:off x="4389120" y="1737360"/>
            <a:ext cx="3429000" cy="3429000"/>
          </a:xfrm>
          <a:prstGeom prst="roundRect">
            <a:avLst>
              <a:gd name="adj" fmla="val 3200"/>
            </a:avLst>
          </a:prstGeom>
          <a:solidFill>
            <a:srgbClr val="15223A"/>
          </a:solidFill>
          <a:ln/>
          <a:effectLst>
            <a:outerShdw sx="100000" sy="100000" kx="0" ky="0" algn="bl" rotWithShape="0" blurRad="101600" dist="38100" dir="5400000">
              <a:srgbClr val="000000">
                <a:alpha val="35000"/>
              </a:srgbClr>
            </a:outerShdw>
          </a:effectLst>
        </p:spPr>
      </p:sp>
      <p:sp>
        <p:nvSpPr>
          <p:cNvPr id="9" name="Shape 6"/>
          <p:cNvSpPr/>
          <p:nvPr/>
        </p:nvSpPr>
        <p:spPr>
          <a:xfrm>
            <a:off x="5737860" y="2148840"/>
            <a:ext cx="731520" cy="731520"/>
          </a:xfrm>
          <a:prstGeom prst="ellipse">
            <a:avLst/>
          </a:prstGeom>
          <a:solidFill>
            <a:srgbClr val="8B5CF6"/>
          </a:solidFill>
          <a:ln/>
        </p:spPr>
      </p:sp>
      <p:pic>
        <p:nvPicPr>
          <p:cNvPr id="10" name="Image 1" descr="preencoded.png">    </p:cNvPr>
          <p:cNvPicPr>
            <a:picLocks noChangeAspect="1"/>
          </p:cNvPicPr>
          <p:nvPr/>
        </p:nvPicPr>
        <p:blipFill>
          <a:blip r:embed="rId2"/>
          <a:stretch>
            <a:fillRect/>
          </a:stretch>
        </p:blipFill>
        <p:spPr>
          <a:xfrm>
            <a:off x="5920740" y="2331720"/>
            <a:ext cx="365760" cy="365760"/>
          </a:xfrm>
          <a:prstGeom prst="rect">
            <a:avLst/>
          </a:prstGeom>
        </p:spPr>
      </p:pic>
      <p:sp>
        <p:nvSpPr>
          <p:cNvPr id="11" name="Text 7"/>
          <p:cNvSpPr/>
          <p:nvPr/>
        </p:nvSpPr>
        <p:spPr>
          <a:xfrm>
            <a:off x="4617720" y="3154680"/>
            <a:ext cx="2971800" cy="64008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20 Consultas BI</a:t>
            </a:r>
            <a:endParaRPr lang="en-US" sz="1700" dirty="0"/>
          </a:p>
        </p:txBody>
      </p:sp>
      <p:sp>
        <p:nvSpPr>
          <p:cNvPr id="12" name="Text 8"/>
          <p:cNvSpPr/>
          <p:nvPr/>
        </p:nvSpPr>
        <p:spPr>
          <a:xfrm>
            <a:off x="4663440" y="3794760"/>
            <a:ext cx="2880360" cy="1188720"/>
          </a:xfrm>
          <a:prstGeom prst="rect">
            <a:avLst/>
          </a:prstGeom>
          <a:noFill/>
          <a:ln/>
        </p:spPr>
        <p:txBody>
          <a:bodyPr wrap="square" rtlCol="0" anchor="t"/>
          <a:lstStyle/>
          <a:p>
            <a:pPr algn="ctr" indent="0" marL="0">
              <a:buNone/>
            </a:pPr>
            <a:r>
              <a:rPr lang="en-US" sz="1250" dirty="0">
                <a:solidFill>
                  <a:srgbClr val="C9D6E5"/>
                </a:solidFill>
                <a:latin typeface="Calibri" pitchFamily="34" charset="0"/>
                <a:ea typeface="Calibri" pitchFamily="34" charset="-122"/>
                <a:cs typeface="Calibri" pitchFamily="34" charset="-120"/>
              </a:rPr>
              <a:t>Desarrollo de queries, vistas y funciones avanzadas para la toma de decisiones e inteligencia de negocios.</a:t>
            </a:r>
            <a:endParaRPr lang="en-US" sz="1250" dirty="0"/>
          </a:p>
        </p:txBody>
      </p:sp>
      <p:sp>
        <p:nvSpPr>
          <p:cNvPr id="13" name="Shape 9"/>
          <p:cNvSpPr/>
          <p:nvPr/>
        </p:nvSpPr>
        <p:spPr>
          <a:xfrm>
            <a:off x="8138160" y="1737360"/>
            <a:ext cx="3429000" cy="3429000"/>
          </a:xfrm>
          <a:prstGeom prst="roundRect">
            <a:avLst>
              <a:gd name="adj" fmla="val 3200"/>
            </a:avLst>
          </a:prstGeom>
          <a:solidFill>
            <a:srgbClr val="15223A"/>
          </a:solidFill>
          <a:ln/>
          <a:effectLst>
            <a:outerShdw sx="100000" sy="100000" kx="0" ky="0" algn="bl" rotWithShape="0" blurRad="101600" dist="38100" dir="5400000">
              <a:srgbClr val="000000">
                <a:alpha val="35000"/>
              </a:srgbClr>
            </a:outerShdw>
          </a:effectLst>
        </p:spPr>
      </p:sp>
      <p:sp>
        <p:nvSpPr>
          <p:cNvPr id="14" name="Shape 10"/>
          <p:cNvSpPr/>
          <p:nvPr/>
        </p:nvSpPr>
        <p:spPr>
          <a:xfrm>
            <a:off x="9486900" y="2148840"/>
            <a:ext cx="731520" cy="731520"/>
          </a:xfrm>
          <a:prstGeom prst="ellipse">
            <a:avLst/>
          </a:prstGeom>
          <a:solidFill>
            <a:srgbClr val="38BDF8"/>
          </a:solidFill>
          <a:ln/>
        </p:spPr>
      </p:sp>
      <p:pic>
        <p:nvPicPr>
          <p:cNvPr id="15" name="Image 2" descr="preencoded.png">    </p:cNvPr>
          <p:cNvPicPr>
            <a:picLocks noChangeAspect="1"/>
          </p:cNvPicPr>
          <p:nvPr/>
        </p:nvPicPr>
        <p:blipFill>
          <a:blip r:embed="rId3"/>
          <a:stretch>
            <a:fillRect/>
          </a:stretch>
        </p:blipFill>
        <p:spPr>
          <a:xfrm>
            <a:off x="9669780" y="2331720"/>
            <a:ext cx="365760" cy="365760"/>
          </a:xfrm>
          <a:prstGeom prst="rect">
            <a:avLst/>
          </a:prstGeom>
        </p:spPr>
      </p:pic>
      <p:sp>
        <p:nvSpPr>
          <p:cNvPr id="16" name="Text 11"/>
          <p:cNvSpPr/>
          <p:nvPr/>
        </p:nvSpPr>
        <p:spPr>
          <a:xfrm>
            <a:off x="8366760" y="3154680"/>
            <a:ext cx="2971800" cy="64008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Lógica Automatizada</a:t>
            </a:r>
            <a:endParaRPr lang="en-US" sz="1700" dirty="0"/>
          </a:p>
        </p:txBody>
      </p:sp>
      <p:sp>
        <p:nvSpPr>
          <p:cNvPr id="17" name="Text 12"/>
          <p:cNvSpPr/>
          <p:nvPr/>
        </p:nvSpPr>
        <p:spPr>
          <a:xfrm>
            <a:off x="8412480" y="3794760"/>
            <a:ext cx="2880360" cy="1188720"/>
          </a:xfrm>
          <a:prstGeom prst="rect">
            <a:avLst/>
          </a:prstGeom>
          <a:noFill/>
          <a:ln/>
        </p:spPr>
        <p:txBody>
          <a:bodyPr wrap="square" rtlCol="0" anchor="t"/>
          <a:lstStyle/>
          <a:p>
            <a:pPr algn="ctr" indent="0" marL="0">
              <a:buNone/>
            </a:pPr>
            <a:r>
              <a:rPr lang="en-US" sz="1250" dirty="0">
                <a:solidFill>
                  <a:srgbClr val="C9D6E5"/>
                </a:solidFill>
                <a:latin typeface="Calibri" pitchFamily="34" charset="0"/>
                <a:ea typeface="Calibri" pitchFamily="34" charset="-122"/>
                <a:cs typeface="Calibri" pitchFamily="34" charset="-120"/>
              </a:rPr>
              <a:t>Implementación de control de stock y auditoría en tiempo real mediante Triggers y Procedures seguros.</a:t>
            </a:r>
            <a:endParaRPr lang="en-US" sz="1250" dirty="0"/>
          </a:p>
        </p:txBody>
      </p:sp>
      <p:sp>
        <p:nvSpPr>
          <p:cNvPr id="18" name="Shape 13"/>
          <p:cNvSpPr/>
          <p:nvPr/>
        </p:nvSpPr>
        <p:spPr>
          <a:xfrm>
            <a:off x="640080" y="6446520"/>
            <a:ext cx="274320" cy="274320"/>
          </a:xfrm>
          <a:prstGeom prst="ellipse">
            <a:avLst/>
          </a:prstGeom>
          <a:solidFill>
            <a:srgbClr val="38BDF8"/>
          </a:solidFill>
          <a:ln/>
        </p:spPr>
      </p:sp>
      <p:pic>
        <p:nvPicPr>
          <p:cNvPr id="19" name="Image 3" descr="preencoded.png">    </p:cNvPr>
          <p:cNvPicPr>
            <a:picLocks noChangeAspect="1"/>
          </p:cNvPicPr>
          <p:nvPr/>
        </p:nvPicPr>
        <p:blipFill>
          <a:blip r:embed="rId4"/>
          <a:stretch>
            <a:fillRect/>
          </a:stretch>
        </p:blipFill>
        <p:spPr>
          <a:xfrm>
            <a:off x="701802" y="6508242"/>
            <a:ext cx="150876" cy="150876"/>
          </a:xfrm>
          <a:prstGeom prst="rect">
            <a:avLst/>
          </a:prstGeom>
        </p:spPr>
      </p:pic>
      <p:sp>
        <p:nvSpPr>
          <p:cNvPr id="20" name="Text 14"/>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María José</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Proceso de </a:t>
            </a:r>
            <a:pPr algn="l" indent="0" marL="0">
              <a:buNone/>
            </a:pPr>
            <a:r>
              <a:rPr lang="en-US" sz="3200" b="1" dirty="0">
                <a:solidFill>
                  <a:srgbClr val="38BDF8"/>
                </a:solidFill>
                <a:latin typeface="Calibri" pitchFamily="34" charset="0"/>
                <a:ea typeface="Calibri" pitchFamily="34" charset="-122"/>
                <a:cs typeface="Calibri" pitchFamily="34" charset="-120"/>
              </a:rPr>
              <a:t>Normalización</a:t>
            </a:r>
            <a:endParaRPr lang="en-US" sz="3200" dirty="0"/>
          </a:p>
        </p:txBody>
      </p:sp>
      <p:sp>
        <p:nvSpPr>
          <p:cNvPr id="3" name="Shape 1"/>
          <p:cNvSpPr/>
          <p:nvPr/>
        </p:nvSpPr>
        <p:spPr>
          <a:xfrm>
            <a:off x="640080" y="1691640"/>
            <a:ext cx="5120640" cy="4114800"/>
          </a:xfrm>
          <a:prstGeom prst="roundRect">
            <a:avLst>
              <a:gd name="adj" fmla="val 2667"/>
            </a:avLst>
          </a:prstGeom>
          <a:solidFill>
            <a:srgbClr val="15223A"/>
          </a:solidFill>
          <a:ln/>
          <a:effectLst>
            <a:outerShdw sx="100000" sy="100000" kx="0" ky="0" algn="bl" rotWithShape="0" blurRad="101600" dist="38100" dir="5400000">
              <a:srgbClr val="000000">
                <a:alpha val="35000"/>
              </a:srgbClr>
            </a:outerShdw>
          </a:effectLst>
        </p:spPr>
      </p:sp>
      <p:sp>
        <p:nvSpPr>
          <p:cNvPr id="4" name="Shape 2"/>
          <p:cNvSpPr/>
          <p:nvPr/>
        </p:nvSpPr>
        <p:spPr>
          <a:xfrm>
            <a:off x="960120" y="2011680"/>
            <a:ext cx="548640" cy="548640"/>
          </a:xfrm>
          <a:prstGeom prst="ellipse">
            <a:avLst/>
          </a:prstGeom>
          <a:solidFill>
            <a:srgbClr val="38BDF8"/>
          </a:solidFill>
          <a:ln/>
        </p:spPr>
      </p:sp>
      <p:pic>
        <p:nvPicPr>
          <p:cNvPr id="5" name="Image 0" descr="preencoded.png">    </p:cNvPr>
          <p:cNvPicPr>
            <a:picLocks noChangeAspect="1"/>
          </p:cNvPicPr>
          <p:nvPr/>
        </p:nvPicPr>
        <p:blipFill>
          <a:blip r:embed="rId1"/>
          <a:stretch>
            <a:fillRect/>
          </a:stretch>
        </p:blipFill>
        <p:spPr>
          <a:xfrm>
            <a:off x="1083564" y="2135124"/>
            <a:ext cx="301752" cy="301752"/>
          </a:xfrm>
          <a:prstGeom prst="rect">
            <a:avLst/>
          </a:prstGeom>
        </p:spPr>
      </p:pic>
      <p:sp>
        <p:nvSpPr>
          <p:cNvPr id="6" name="Text 3"/>
          <p:cNvSpPr/>
          <p:nvPr/>
        </p:nvSpPr>
        <p:spPr>
          <a:xfrm>
            <a:off x="1645920" y="2057400"/>
            <a:ext cx="3840480" cy="50292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 Archivos Planos a 2FN</a:t>
            </a:r>
            <a:endParaRPr lang="en-US" sz="1700" dirty="0"/>
          </a:p>
        </p:txBody>
      </p:sp>
      <p:sp>
        <p:nvSpPr>
          <p:cNvPr id="7" name="Shape 4"/>
          <p:cNvSpPr/>
          <p:nvPr/>
        </p:nvSpPr>
        <p:spPr>
          <a:xfrm>
            <a:off x="960120" y="2743200"/>
            <a:ext cx="4480560" cy="0"/>
          </a:xfrm>
          <a:prstGeom prst="line">
            <a:avLst/>
          </a:prstGeom>
          <a:noFill/>
          <a:ln w="12700">
            <a:solidFill>
              <a:srgbClr val="2A3B57"/>
            </a:solidFill>
            <a:prstDash val="solid"/>
          </a:ln>
        </p:spPr>
      </p:sp>
      <p:sp>
        <p:nvSpPr>
          <p:cNvPr id="8" name="Text 5"/>
          <p:cNvSpPr/>
          <p:nvPr/>
        </p:nvSpPr>
        <p:spPr>
          <a:xfrm>
            <a:off x="960120" y="2926080"/>
            <a:ext cx="4480560" cy="2651760"/>
          </a:xfrm>
          <a:prstGeom prst="rect">
            <a:avLst/>
          </a:prstGeom>
          <a:noFill/>
          <a:ln/>
        </p:spPr>
        <p:txBody>
          <a:bodyPr wrap="square" rtlCol="0" anchor="t"/>
          <a:lstStyle/>
          <a:p>
            <a:pPr indent="0" marL="0">
              <a:lnSpc>
                <a:spcPct val="120000"/>
              </a:lnSpc>
              <a:buNone/>
            </a:pPr>
            <a:r>
              <a:rPr lang="en-US" sz="1300" dirty="0">
                <a:solidFill>
                  <a:srgbClr val="C9D6E5"/>
                </a:solidFill>
                <a:latin typeface="Calibri" pitchFamily="34" charset="0"/>
                <a:ea typeface="Calibri" pitchFamily="34" charset="-122"/>
                <a:cs typeface="Calibri" pitchFamily="34" charset="-120"/>
              </a:rPr>
              <a:t>El sistema heredado en Excel presentaba alta duplicidad. Aplicamos la 1FN aislando la cabecera de las facturas de sus ítems. Luego, con la 2FN, eliminamos las dependencias parciales asegurando que los atributos dependan de su clave primaria completa.</a:t>
            </a:r>
            <a:endParaRPr lang="en-US" sz="1300" dirty="0"/>
          </a:p>
        </p:txBody>
      </p:sp>
      <p:sp>
        <p:nvSpPr>
          <p:cNvPr id="9" name="Shape 6"/>
          <p:cNvSpPr/>
          <p:nvPr/>
        </p:nvSpPr>
        <p:spPr>
          <a:xfrm>
            <a:off x="6217920" y="1691640"/>
            <a:ext cx="5120640" cy="4114800"/>
          </a:xfrm>
          <a:prstGeom prst="roundRect">
            <a:avLst>
              <a:gd name="adj" fmla="val 2667"/>
            </a:avLst>
          </a:prstGeom>
          <a:solidFill>
            <a:srgbClr val="15223A"/>
          </a:solidFill>
          <a:ln/>
          <a:effectLst>
            <a:outerShdw sx="100000" sy="100000" kx="0" ky="0" algn="bl" rotWithShape="0" blurRad="101600" dist="38100" dir="5400000">
              <a:srgbClr val="000000">
                <a:alpha val="35000"/>
              </a:srgbClr>
            </a:outerShdw>
          </a:effectLst>
        </p:spPr>
      </p:sp>
      <p:sp>
        <p:nvSpPr>
          <p:cNvPr id="10" name="Shape 7"/>
          <p:cNvSpPr/>
          <p:nvPr/>
        </p:nvSpPr>
        <p:spPr>
          <a:xfrm>
            <a:off x="6537960" y="2011680"/>
            <a:ext cx="548640" cy="548640"/>
          </a:xfrm>
          <a:prstGeom prst="ellipse">
            <a:avLst/>
          </a:prstGeom>
          <a:solidFill>
            <a:srgbClr val="8B5CF6"/>
          </a:solidFill>
          <a:ln/>
        </p:spPr>
      </p:sp>
      <p:pic>
        <p:nvPicPr>
          <p:cNvPr id="11" name="Image 1" descr="preencoded.png">    </p:cNvPr>
          <p:cNvPicPr>
            <a:picLocks noChangeAspect="1"/>
          </p:cNvPicPr>
          <p:nvPr/>
        </p:nvPicPr>
        <p:blipFill>
          <a:blip r:embed="rId2"/>
          <a:stretch>
            <a:fillRect/>
          </a:stretch>
        </p:blipFill>
        <p:spPr>
          <a:xfrm>
            <a:off x="6661404" y="2135124"/>
            <a:ext cx="301752" cy="301752"/>
          </a:xfrm>
          <a:prstGeom prst="rect">
            <a:avLst/>
          </a:prstGeom>
        </p:spPr>
      </p:pic>
      <p:sp>
        <p:nvSpPr>
          <p:cNvPr id="12" name="Text 8"/>
          <p:cNvSpPr/>
          <p:nvPr/>
        </p:nvSpPr>
        <p:spPr>
          <a:xfrm>
            <a:off x="7223760" y="2057400"/>
            <a:ext cx="3840480" cy="50292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Tercera Forma Normal (3FN)</a:t>
            </a:r>
            <a:endParaRPr lang="en-US" sz="1700" dirty="0"/>
          </a:p>
        </p:txBody>
      </p:sp>
      <p:sp>
        <p:nvSpPr>
          <p:cNvPr id="13" name="Shape 9"/>
          <p:cNvSpPr/>
          <p:nvPr/>
        </p:nvSpPr>
        <p:spPr>
          <a:xfrm>
            <a:off x="6537960" y="2743200"/>
            <a:ext cx="4480560" cy="0"/>
          </a:xfrm>
          <a:prstGeom prst="line">
            <a:avLst/>
          </a:prstGeom>
          <a:noFill/>
          <a:ln w="12700">
            <a:solidFill>
              <a:srgbClr val="2A3B57"/>
            </a:solidFill>
            <a:prstDash val="solid"/>
          </a:ln>
        </p:spPr>
      </p:sp>
      <p:sp>
        <p:nvSpPr>
          <p:cNvPr id="14" name="Text 10"/>
          <p:cNvSpPr/>
          <p:nvPr/>
        </p:nvSpPr>
        <p:spPr>
          <a:xfrm>
            <a:off x="6537960" y="2926080"/>
            <a:ext cx="4480560" cy="2651760"/>
          </a:xfrm>
          <a:prstGeom prst="rect">
            <a:avLst/>
          </a:prstGeom>
          <a:noFill/>
          <a:ln/>
        </p:spPr>
        <p:txBody>
          <a:bodyPr wrap="square" rtlCol="0" anchor="t"/>
          <a:lstStyle/>
          <a:p>
            <a:pPr indent="0" marL="0">
              <a:lnSpc>
                <a:spcPct val="120000"/>
              </a:lnSpc>
              <a:buNone/>
            </a:pPr>
            <a:r>
              <a:rPr lang="en-US" sz="1300" dirty="0">
                <a:solidFill>
                  <a:srgbClr val="C9D6E5"/>
                </a:solidFill>
                <a:latin typeface="Calibri" pitchFamily="34" charset="0"/>
                <a:ea typeface="Calibri" pitchFamily="34" charset="-122"/>
                <a:cs typeface="Calibri" pitchFamily="34" charset="-120"/>
              </a:rPr>
              <a:t>Eliminamos las dependencias transitivas. Independizamos entidades maestras como el catálogo de Productos, la cartera de Clientes y la base de Proveedores. Esto garantiza que una actualización de datos se haga en un solo lugar de la base de datos.</a:t>
            </a:r>
            <a:endParaRPr lang="en-US" sz="1300" dirty="0"/>
          </a:p>
        </p:txBody>
      </p:sp>
      <p:sp>
        <p:nvSpPr>
          <p:cNvPr id="15" name="Shape 11"/>
          <p:cNvSpPr/>
          <p:nvPr/>
        </p:nvSpPr>
        <p:spPr>
          <a:xfrm>
            <a:off x="640080" y="6446520"/>
            <a:ext cx="274320" cy="274320"/>
          </a:xfrm>
          <a:prstGeom prst="ellipse">
            <a:avLst/>
          </a:prstGeom>
          <a:solidFill>
            <a:srgbClr val="38BDF8"/>
          </a:solidFill>
          <a:ln/>
        </p:spPr>
      </p:sp>
      <p:pic>
        <p:nvPicPr>
          <p:cNvPr id="16" name="Image 2" descr="preencoded.png">    </p:cNvPr>
          <p:cNvPicPr>
            <a:picLocks noChangeAspect="1"/>
          </p:cNvPicPr>
          <p:nvPr/>
        </p:nvPicPr>
        <p:blipFill>
          <a:blip r:embed="rId3"/>
          <a:stretch>
            <a:fillRect/>
          </a:stretch>
        </p:blipFill>
        <p:spPr>
          <a:xfrm>
            <a:off x="701802" y="6508242"/>
            <a:ext cx="150876" cy="150876"/>
          </a:xfrm>
          <a:prstGeom prst="rect">
            <a:avLst/>
          </a:prstGeom>
        </p:spPr>
      </p:pic>
      <p:sp>
        <p:nvSpPr>
          <p:cNvPr id="17" name="Text 12"/>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María José</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5760720" cy="822960"/>
          </a:xfrm>
          <a:prstGeom prst="rect">
            <a:avLst/>
          </a:prstGeom>
          <a:noFill/>
          <a:ln/>
        </p:spPr>
        <p:txBody>
          <a:bodyPr wrap="square"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Modelo </a:t>
            </a:r>
            <a:pPr algn="l" indent="0" marL="0">
              <a:buNone/>
            </a:pPr>
            <a:r>
              <a:rPr lang="en-US" sz="3000" b="1" dirty="0">
                <a:solidFill>
                  <a:srgbClr val="38BDF8"/>
                </a:solidFill>
                <a:latin typeface="Calibri" pitchFamily="34" charset="0"/>
                <a:ea typeface="Calibri" pitchFamily="34" charset="-122"/>
                <a:cs typeface="Calibri" pitchFamily="34" charset="-120"/>
              </a:rPr>
              <a:t>Entidad-Relación</a:t>
            </a:r>
            <a:endParaRPr lang="en-US" sz="3000" dirty="0"/>
          </a:p>
        </p:txBody>
      </p:sp>
      <p:sp>
        <p:nvSpPr>
          <p:cNvPr id="3" name="Text 1"/>
          <p:cNvSpPr/>
          <p:nvPr/>
        </p:nvSpPr>
        <p:spPr>
          <a:xfrm>
            <a:off x="640080" y="1600200"/>
            <a:ext cx="5120640" cy="914400"/>
          </a:xfrm>
          <a:prstGeom prst="rect">
            <a:avLst/>
          </a:prstGeom>
          <a:noFill/>
          <a:ln/>
        </p:spPr>
        <p:txBody>
          <a:bodyPr wrap="square" rtlCol="0" anchor="t"/>
          <a:lstStyle/>
          <a:p>
            <a:pPr indent="0" marL="0">
              <a:lnSpc>
                <a:spcPct val="120000"/>
              </a:lnSpc>
              <a:buNone/>
            </a:pPr>
            <a:r>
              <a:rPr lang="en-US" sz="1400" dirty="0">
                <a:solidFill>
                  <a:srgbClr val="C9D6E5"/>
                </a:solidFill>
                <a:latin typeface="Calibri" pitchFamily="34" charset="0"/>
                <a:ea typeface="Calibri" pitchFamily="34" charset="-122"/>
                <a:cs typeface="Calibri" pitchFamily="34" charset="-120"/>
              </a:rPr>
              <a:t>El MER plasma la lógica operativa y central del negocio. Las relaciones fluyen desde los Proveedores hasta el Cliente final.</a:t>
            </a:r>
            <a:endParaRPr lang="en-US" sz="1400" dirty="0"/>
          </a:p>
        </p:txBody>
      </p:sp>
      <p:sp>
        <p:nvSpPr>
          <p:cNvPr id="4" name="Shape 2"/>
          <p:cNvSpPr/>
          <p:nvPr/>
        </p:nvSpPr>
        <p:spPr>
          <a:xfrm>
            <a:off x="640080" y="2606040"/>
            <a:ext cx="384048" cy="384048"/>
          </a:xfrm>
          <a:prstGeom prst="ellipse">
            <a:avLst/>
          </a:prstGeom>
          <a:solidFill>
            <a:srgbClr val="38BDF8"/>
          </a:solidFill>
          <a:ln/>
        </p:spPr>
      </p:sp>
      <p:pic>
        <p:nvPicPr>
          <p:cNvPr id="5" name="Image 0" descr="preencoded.png">    </p:cNvPr>
          <p:cNvPicPr>
            <a:picLocks noChangeAspect="1"/>
          </p:cNvPicPr>
          <p:nvPr/>
        </p:nvPicPr>
        <p:blipFill>
          <a:blip r:embed="rId1"/>
          <a:stretch>
            <a:fillRect/>
          </a:stretch>
        </p:blipFill>
        <p:spPr>
          <a:xfrm>
            <a:off x="726491" y="2692451"/>
            <a:ext cx="211226" cy="211226"/>
          </a:xfrm>
          <a:prstGeom prst="rect">
            <a:avLst/>
          </a:prstGeom>
        </p:spPr>
      </p:pic>
      <p:sp>
        <p:nvSpPr>
          <p:cNvPr id="6" name="Text 3"/>
          <p:cNvSpPr/>
          <p:nvPr/>
        </p:nvSpPr>
        <p:spPr>
          <a:xfrm>
            <a:off x="1207008" y="2551176"/>
            <a:ext cx="4937760" cy="685800"/>
          </a:xfrm>
          <a:prstGeom prst="rect">
            <a:avLst/>
          </a:prstGeom>
          <a:noFill/>
          <a:ln/>
        </p:spPr>
        <p:txBody>
          <a:bodyPr wrap="square" rtlCol="0" anchor="ctr"/>
          <a:lstStyle/>
          <a:p>
            <a:pPr indent="0" marL="0">
              <a:lnSpc>
                <a:spcPct val="110000"/>
              </a:lnSpc>
              <a:buNone/>
            </a:pPr>
            <a:r>
              <a:rPr lang="en-US" sz="1250" dirty="0">
                <a:solidFill>
                  <a:srgbClr val="C9D6E5"/>
                </a:solidFill>
                <a:latin typeface="Calibri" pitchFamily="34" charset="0"/>
                <a:ea typeface="Calibri" pitchFamily="34" charset="-122"/>
                <a:cs typeface="Calibri" pitchFamily="34" charset="-120"/>
              </a:rPr>
              <a:t>Conecta Clientes, Ventas, Inventario y Empleados mediante Claves Foráneas (FK).</a:t>
            </a:r>
            <a:endParaRPr lang="en-US" sz="1250" dirty="0"/>
          </a:p>
        </p:txBody>
      </p:sp>
      <p:sp>
        <p:nvSpPr>
          <p:cNvPr id="7" name="Shape 4"/>
          <p:cNvSpPr/>
          <p:nvPr/>
        </p:nvSpPr>
        <p:spPr>
          <a:xfrm>
            <a:off x="640080" y="3474720"/>
            <a:ext cx="384048" cy="384048"/>
          </a:xfrm>
          <a:prstGeom prst="ellipse">
            <a:avLst/>
          </a:prstGeom>
          <a:solidFill>
            <a:srgbClr val="8B5CF6"/>
          </a:solidFill>
          <a:ln/>
        </p:spPr>
      </p:sp>
      <p:pic>
        <p:nvPicPr>
          <p:cNvPr id="8" name="Image 1" descr="preencoded.png">    </p:cNvPr>
          <p:cNvPicPr>
            <a:picLocks noChangeAspect="1"/>
          </p:cNvPicPr>
          <p:nvPr/>
        </p:nvPicPr>
        <p:blipFill>
          <a:blip r:embed="rId2"/>
          <a:stretch>
            <a:fillRect/>
          </a:stretch>
        </p:blipFill>
        <p:spPr>
          <a:xfrm>
            <a:off x="726491" y="3561131"/>
            <a:ext cx="211226" cy="211226"/>
          </a:xfrm>
          <a:prstGeom prst="rect">
            <a:avLst/>
          </a:prstGeom>
        </p:spPr>
      </p:pic>
      <p:sp>
        <p:nvSpPr>
          <p:cNvPr id="9" name="Text 5"/>
          <p:cNvSpPr/>
          <p:nvPr/>
        </p:nvSpPr>
        <p:spPr>
          <a:xfrm>
            <a:off x="1207008" y="3419856"/>
            <a:ext cx="4937760" cy="685800"/>
          </a:xfrm>
          <a:prstGeom prst="rect">
            <a:avLst/>
          </a:prstGeom>
          <a:noFill/>
          <a:ln/>
        </p:spPr>
        <p:txBody>
          <a:bodyPr wrap="square" rtlCol="0" anchor="ctr"/>
          <a:lstStyle/>
          <a:p>
            <a:pPr indent="0" marL="0">
              <a:lnSpc>
                <a:spcPct val="110000"/>
              </a:lnSpc>
              <a:buNone/>
            </a:pPr>
            <a:r>
              <a:rPr lang="en-US" sz="1250" dirty="0">
                <a:solidFill>
                  <a:srgbClr val="C9D6E5"/>
                </a:solidFill>
                <a:latin typeface="Calibri" pitchFamily="34" charset="0"/>
                <a:ea typeface="Calibri" pitchFamily="34" charset="-122"/>
                <a:cs typeface="Calibri" pitchFamily="34" charset="-120"/>
              </a:rPr>
              <a:t>Establece relaciones de Uno a Muchos (1:N) garantizando integridad referencial estricta.</a:t>
            </a:r>
            <a:endParaRPr lang="en-US" sz="1250" dirty="0"/>
          </a:p>
        </p:txBody>
      </p:sp>
      <p:sp>
        <p:nvSpPr>
          <p:cNvPr id="10" name="Shape 6"/>
          <p:cNvSpPr/>
          <p:nvPr/>
        </p:nvSpPr>
        <p:spPr>
          <a:xfrm>
            <a:off x="640080" y="4343400"/>
            <a:ext cx="384048" cy="384048"/>
          </a:xfrm>
          <a:prstGeom prst="ellipse">
            <a:avLst/>
          </a:prstGeom>
          <a:solidFill>
            <a:srgbClr val="38BDF8"/>
          </a:solidFill>
          <a:ln/>
        </p:spPr>
      </p:sp>
      <p:pic>
        <p:nvPicPr>
          <p:cNvPr id="11" name="Image 2" descr="preencoded.png">    </p:cNvPr>
          <p:cNvPicPr>
            <a:picLocks noChangeAspect="1"/>
          </p:cNvPicPr>
          <p:nvPr/>
        </p:nvPicPr>
        <p:blipFill>
          <a:blip r:embed="rId3"/>
          <a:stretch>
            <a:fillRect/>
          </a:stretch>
        </p:blipFill>
        <p:spPr>
          <a:xfrm>
            <a:off x="726491" y="4429811"/>
            <a:ext cx="211226" cy="211226"/>
          </a:xfrm>
          <a:prstGeom prst="rect">
            <a:avLst/>
          </a:prstGeom>
        </p:spPr>
      </p:pic>
      <p:sp>
        <p:nvSpPr>
          <p:cNvPr id="12" name="Text 7"/>
          <p:cNvSpPr/>
          <p:nvPr/>
        </p:nvSpPr>
        <p:spPr>
          <a:xfrm>
            <a:off x="1207008" y="4288536"/>
            <a:ext cx="4937760" cy="685800"/>
          </a:xfrm>
          <a:prstGeom prst="rect">
            <a:avLst/>
          </a:prstGeom>
          <a:noFill/>
          <a:ln/>
        </p:spPr>
        <p:txBody>
          <a:bodyPr wrap="square" rtlCol="0" anchor="ctr"/>
          <a:lstStyle/>
          <a:p>
            <a:pPr indent="0" marL="0">
              <a:lnSpc>
                <a:spcPct val="110000"/>
              </a:lnSpc>
              <a:buNone/>
            </a:pPr>
            <a:r>
              <a:rPr lang="en-US" sz="1250" dirty="0">
                <a:solidFill>
                  <a:srgbClr val="C9D6E5"/>
                </a:solidFill>
                <a:latin typeface="Calibri" pitchFamily="34" charset="0"/>
                <a:ea typeface="Calibri" pitchFamily="34" charset="-122"/>
                <a:cs typeface="Calibri" pitchFamily="34" charset="-120"/>
              </a:rPr>
              <a:t>Incorpora una tabla de Auditoría autónoma para el registro administrativo.</a:t>
            </a:r>
            <a:endParaRPr lang="en-US" sz="1250" dirty="0"/>
          </a:p>
        </p:txBody>
      </p:sp>
      <p:sp>
        <p:nvSpPr>
          <p:cNvPr id="13" name="Shape 8"/>
          <p:cNvSpPr/>
          <p:nvPr/>
        </p:nvSpPr>
        <p:spPr>
          <a:xfrm>
            <a:off x="7109460" y="1988820"/>
            <a:ext cx="2194560" cy="9144"/>
          </a:xfrm>
          <a:prstGeom prst="line">
            <a:avLst/>
          </a:prstGeom>
          <a:noFill/>
          <a:ln w="19050">
            <a:solidFill>
              <a:srgbClr val="2E4568"/>
            </a:solidFill>
            <a:prstDash val="solid"/>
          </a:ln>
        </p:spPr>
      </p:sp>
      <p:sp>
        <p:nvSpPr>
          <p:cNvPr id="14" name="Shape 9"/>
          <p:cNvSpPr/>
          <p:nvPr/>
        </p:nvSpPr>
        <p:spPr>
          <a:xfrm>
            <a:off x="9304020" y="1988820"/>
            <a:ext cx="9144" cy="1417320"/>
          </a:xfrm>
          <a:prstGeom prst="line">
            <a:avLst/>
          </a:prstGeom>
          <a:noFill/>
          <a:ln w="19050">
            <a:solidFill>
              <a:srgbClr val="2E4568"/>
            </a:solidFill>
            <a:prstDash val="solid"/>
          </a:ln>
        </p:spPr>
      </p:sp>
      <p:sp>
        <p:nvSpPr>
          <p:cNvPr id="15" name="Shape 10"/>
          <p:cNvSpPr/>
          <p:nvPr/>
        </p:nvSpPr>
        <p:spPr>
          <a:xfrm>
            <a:off x="7109460" y="3406140"/>
            <a:ext cx="2194560" cy="9144"/>
          </a:xfrm>
          <a:prstGeom prst="line">
            <a:avLst/>
          </a:prstGeom>
          <a:noFill/>
          <a:ln w="19050">
            <a:solidFill>
              <a:srgbClr val="2E4568"/>
            </a:solidFill>
            <a:prstDash val="solid"/>
          </a:ln>
        </p:spPr>
      </p:sp>
      <p:sp>
        <p:nvSpPr>
          <p:cNvPr id="16" name="Shape 11"/>
          <p:cNvSpPr/>
          <p:nvPr/>
        </p:nvSpPr>
        <p:spPr>
          <a:xfrm>
            <a:off x="9304020" y="3406140"/>
            <a:ext cx="2011680" cy="9144"/>
          </a:xfrm>
          <a:prstGeom prst="line">
            <a:avLst/>
          </a:prstGeom>
          <a:noFill/>
          <a:ln w="19050">
            <a:solidFill>
              <a:srgbClr val="2E4568"/>
            </a:solidFill>
            <a:prstDash val="solid"/>
          </a:ln>
        </p:spPr>
      </p:sp>
      <p:sp>
        <p:nvSpPr>
          <p:cNvPr id="17" name="Shape 12"/>
          <p:cNvSpPr/>
          <p:nvPr/>
        </p:nvSpPr>
        <p:spPr>
          <a:xfrm>
            <a:off x="9304020" y="3406140"/>
            <a:ext cx="9144" cy="1417320"/>
          </a:xfrm>
          <a:prstGeom prst="line">
            <a:avLst/>
          </a:prstGeom>
          <a:noFill/>
          <a:ln w="19050">
            <a:solidFill>
              <a:srgbClr val="2E4568"/>
            </a:solidFill>
            <a:prstDash val="solid"/>
          </a:ln>
        </p:spPr>
      </p:sp>
      <p:sp>
        <p:nvSpPr>
          <p:cNvPr id="18" name="Shape 13"/>
          <p:cNvSpPr/>
          <p:nvPr/>
        </p:nvSpPr>
        <p:spPr>
          <a:xfrm>
            <a:off x="6309360" y="1691640"/>
            <a:ext cx="1600200" cy="594360"/>
          </a:xfrm>
          <a:prstGeom prst="roundRect">
            <a:avLst>
              <a:gd name="adj" fmla="val 12308"/>
            </a:avLst>
          </a:prstGeom>
          <a:solidFill>
            <a:srgbClr val="1B2A45"/>
          </a:solidFill>
          <a:ln w="12700">
            <a:solidFill>
              <a:srgbClr val="2E4568"/>
            </a:solidFill>
            <a:prstDash val="solid"/>
          </a:ln>
        </p:spPr>
      </p:sp>
      <p:sp>
        <p:nvSpPr>
          <p:cNvPr id="19" name="Text 14"/>
          <p:cNvSpPr/>
          <p:nvPr/>
        </p:nvSpPr>
        <p:spPr>
          <a:xfrm>
            <a:off x="6309360" y="1691640"/>
            <a:ext cx="1600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Proveedores</a:t>
            </a:r>
            <a:endParaRPr lang="en-US" sz="1200" dirty="0"/>
          </a:p>
        </p:txBody>
      </p:sp>
      <p:sp>
        <p:nvSpPr>
          <p:cNvPr id="20" name="Shape 15"/>
          <p:cNvSpPr/>
          <p:nvPr/>
        </p:nvSpPr>
        <p:spPr>
          <a:xfrm>
            <a:off x="8503920" y="1691640"/>
            <a:ext cx="1600200" cy="594360"/>
          </a:xfrm>
          <a:prstGeom prst="roundRect">
            <a:avLst>
              <a:gd name="adj" fmla="val 12308"/>
            </a:avLst>
          </a:prstGeom>
          <a:solidFill>
            <a:srgbClr val="1B2A45"/>
          </a:solidFill>
          <a:ln w="12700">
            <a:solidFill>
              <a:srgbClr val="2E4568"/>
            </a:solidFill>
            <a:prstDash val="solid"/>
          </a:ln>
        </p:spPr>
      </p:sp>
      <p:sp>
        <p:nvSpPr>
          <p:cNvPr id="21" name="Text 16"/>
          <p:cNvSpPr/>
          <p:nvPr/>
        </p:nvSpPr>
        <p:spPr>
          <a:xfrm>
            <a:off x="8503920" y="1691640"/>
            <a:ext cx="1600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Productos</a:t>
            </a:r>
            <a:endParaRPr lang="en-US" sz="1200" dirty="0"/>
          </a:p>
        </p:txBody>
      </p:sp>
      <p:sp>
        <p:nvSpPr>
          <p:cNvPr id="22" name="Shape 17"/>
          <p:cNvSpPr/>
          <p:nvPr/>
        </p:nvSpPr>
        <p:spPr>
          <a:xfrm>
            <a:off x="8503920" y="3108960"/>
            <a:ext cx="1600200" cy="594360"/>
          </a:xfrm>
          <a:prstGeom prst="roundRect">
            <a:avLst>
              <a:gd name="adj" fmla="val 12308"/>
            </a:avLst>
          </a:prstGeom>
          <a:solidFill>
            <a:srgbClr val="1B2A45"/>
          </a:solidFill>
          <a:ln w="12700">
            <a:solidFill>
              <a:srgbClr val="2E4568"/>
            </a:solidFill>
            <a:prstDash val="solid"/>
          </a:ln>
        </p:spPr>
      </p:sp>
      <p:sp>
        <p:nvSpPr>
          <p:cNvPr id="23" name="Text 18"/>
          <p:cNvSpPr/>
          <p:nvPr/>
        </p:nvSpPr>
        <p:spPr>
          <a:xfrm>
            <a:off x="8503920" y="3108960"/>
            <a:ext cx="1600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Ventas</a:t>
            </a:r>
            <a:endParaRPr lang="en-US" sz="1200" dirty="0"/>
          </a:p>
        </p:txBody>
      </p:sp>
      <p:sp>
        <p:nvSpPr>
          <p:cNvPr id="24" name="Shape 19"/>
          <p:cNvSpPr/>
          <p:nvPr/>
        </p:nvSpPr>
        <p:spPr>
          <a:xfrm>
            <a:off x="10515600" y="3108960"/>
            <a:ext cx="1600200" cy="594360"/>
          </a:xfrm>
          <a:prstGeom prst="roundRect">
            <a:avLst>
              <a:gd name="adj" fmla="val 12308"/>
            </a:avLst>
          </a:prstGeom>
          <a:solidFill>
            <a:srgbClr val="1B2A45"/>
          </a:solidFill>
          <a:ln w="12700">
            <a:solidFill>
              <a:srgbClr val="2E4568"/>
            </a:solidFill>
            <a:prstDash val="solid"/>
          </a:ln>
        </p:spPr>
      </p:sp>
      <p:sp>
        <p:nvSpPr>
          <p:cNvPr id="25" name="Text 20"/>
          <p:cNvSpPr/>
          <p:nvPr/>
        </p:nvSpPr>
        <p:spPr>
          <a:xfrm>
            <a:off x="10515600" y="3108960"/>
            <a:ext cx="1600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Clientes</a:t>
            </a:r>
            <a:endParaRPr lang="en-US" sz="1200" dirty="0"/>
          </a:p>
        </p:txBody>
      </p:sp>
      <p:sp>
        <p:nvSpPr>
          <p:cNvPr id="26" name="Shape 21"/>
          <p:cNvSpPr/>
          <p:nvPr/>
        </p:nvSpPr>
        <p:spPr>
          <a:xfrm>
            <a:off x="6309360" y="3108960"/>
            <a:ext cx="1600200" cy="594360"/>
          </a:xfrm>
          <a:prstGeom prst="roundRect">
            <a:avLst>
              <a:gd name="adj" fmla="val 12308"/>
            </a:avLst>
          </a:prstGeom>
          <a:solidFill>
            <a:srgbClr val="1B2A45"/>
          </a:solidFill>
          <a:ln w="12700">
            <a:solidFill>
              <a:srgbClr val="2E4568"/>
            </a:solidFill>
            <a:prstDash val="solid"/>
          </a:ln>
        </p:spPr>
      </p:sp>
      <p:sp>
        <p:nvSpPr>
          <p:cNvPr id="27" name="Text 22"/>
          <p:cNvSpPr/>
          <p:nvPr/>
        </p:nvSpPr>
        <p:spPr>
          <a:xfrm>
            <a:off x="6309360" y="3108960"/>
            <a:ext cx="1600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Empleados</a:t>
            </a:r>
            <a:endParaRPr lang="en-US" sz="1200" dirty="0"/>
          </a:p>
        </p:txBody>
      </p:sp>
      <p:sp>
        <p:nvSpPr>
          <p:cNvPr id="28" name="Shape 23"/>
          <p:cNvSpPr/>
          <p:nvPr/>
        </p:nvSpPr>
        <p:spPr>
          <a:xfrm>
            <a:off x="8503920" y="4526280"/>
            <a:ext cx="1600200" cy="594360"/>
          </a:xfrm>
          <a:prstGeom prst="roundRect">
            <a:avLst>
              <a:gd name="adj" fmla="val 12308"/>
            </a:avLst>
          </a:prstGeom>
          <a:solidFill>
            <a:srgbClr val="8B5CF6"/>
          </a:solidFill>
          <a:ln w="12700">
            <a:solidFill>
              <a:srgbClr val="8B5CF6"/>
            </a:solidFill>
            <a:prstDash val="solid"/>
          </a:ln>
        </p:spPr>
      </p:sp>
      <p:sp>
        <p:nvSpPr>
          <p:cNvPr id="29" name="Text 24"/>
          <p:cNvSpPr/>
          <p:nvPr/>
        </p:nvSpPr>
        <p:spPr>
          <a:xfrm>
            <a:off x="8503920" y="4526280"/>
            <a:ext cx="1600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Auditoría</a:t>
            </a:r>
            <a:endParaRPr lang="en-US" sz="1200" dirty="0"/>
          </a:p>
        </p:txBody>
      </p:sp>
      <p:sp>
        <p:nvSpPr>
          <p:cNvPr id="30" name="Shape 25"/>
          <p:cNvSpPr/>
          <p:nvPr/>
        </p:nvSpPr>
        <p:spPr>
          <a:xfrm>
            <a:off x="640080" y="6446520"/>
            <a:ext cx="274320" cy="274320"/>
          </a:xfrm>
          <a:prstGeom prst="ellipse">
            <a:avLst/>
          </a:prstGeom>
          <a:solidFill>
            <a:srgbClr val="38BDF8"/>
          </a:solidFill>
          <a:ln/>
        </p:spPr>
      </p:sp>
      <p:pic>
        <p:nvPicPr>
          <p:cNvPr id="31" name="Image 3" descr="preencoded.png">    </p:cNvPr>
          <p:cNvPicPr>
            <a:picLocks noChangeAspect="1"/>
          </p:cNvPicPr>
          <p:nvPr/>
        </p:nvPicPr>
        <p:blipFill>
          <a:blip r:embed="rId4"/>
          <a:stretch>
            <a:fillRect/>
          </a:stretch>
        </p:blipFill>
        <p:spPr>
          <a:xfrm>
            <a:off x="701802" y="6508242"/>
            <a:ext cx="150876" cy="150876"/>
          </a:xfrm>
          <a:prstGeom prst="rect">
            <a:avLst/>
          </a:prstGeom>
        </p:spPr>
      </p:pic>
      <p:sp>
        <p:nvSpPr>
          <p:cNvPr id="32" name="Text 26"/>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Daniel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Lógica </a:t>
            </a:r>
            <a:pPr algn="l" indent="0" marL="0">
              <a:buNone/>
            </a:pPr>
            <a:r>
              <a:rPr lang="en-US" sz="3200" b="1" dirty="0">
                <a:solidFill>
                  <a:srgbClr val="38BDF8"/>
                </a:solidFill>
                <a:latin typeface="Calibri" pitchFamily="34" charset="0"/>
                <a:ea typeface="Calibri" pitchFamily="34" charset="-122"/>
                <a:cs typeface="Calibri" pitchFamily="34" charset="-120"/>
              </a:rPr>
              <a:t>Automatizada</a:t>
            </a:r>
            <a:pPr algn="l" indent="0" marL="0">
              <a:buNone/>
            </a:pPr>
            <a:r>
              <a:rPr lang="en-US" sz="3200" b="1" dirty="0">
                <a:solidFill>
                  <a:srgbClr val="FFFFFF"/>
                </a:solidFill>
                <a:latin typeface="Calibri" pitchFamily="34" charset="0"/>
                <a:ea typeface="Calibri" pitchFamily="34" charset="-122"/>
                <a:cs typeface="Calibri" pitchFamily="34" charset="-120"/>
              </a:rPr>
              <a:t> SQL</a:t>
            </a:r>
            <a:endParaRPr lang="en-US" sz="3200" dirty="0"/>
          </a:p>
        </p:txBody>
      </p:sp>
      <p:sp>
        <p:nvSpPr>
          <p:cNvPr id="3" name="Shape 1"/>
          <p:cNvSpPr/>
          <p:nvPr/>
        </p:nvSpPr>
        <p:spPr>
          <a:xfrm>
            <a:off x="640080" y="1691640"/>
            <a:ext cx="5120640" cy="4114800"/>
          </a:xfrm>
          <a:prstGeom prst="roundRect">
            <a:avLst>
              <a:gd name="adj" fmla="val 2667"/>
            </a:avLst>
          </a:prstGeom>
          <a:solidFill>
            <a:srgbClr val="15223A"/>
          </a:solidFill>
          <a:ln/>
          <a:effectLst>
            <a:outerShdw sx="100000" sy="100000" kx="0" ky="0" algn="bl" rotWithShape="0" blurRad="101600" dist="38100" dir="5400000">
              <a:srgbClr val="000000">
                <a:alpha val="35000"/>
              </a:srgbClr>
            </a:outerShdw>
          </a:effectLst>
        </p:spPr>
      </p:sp>
      <p:sp>
        <p:nvSpPr>
          <p:cNvPr id="4" name="Shape 2"/>
          <p:cNvSpPr/>
          <p:nvPr/>
        </p:nvSpPr>
        <p:spPr>
          <a:xfrm>
            <a:off x="960120" y="2011680"/>
            <a:ext cx="548640" cy="548640"/>
          </a:xfrm>
          <a:prstGeom prst="ellipse">
            <a:avLst/>
          </a:prstGeom>
          <a:solidFill>
            <a:srgbClr val="38BDF8"/>
          </a:solidFill>
          <a:ln/>
        </p:spPr>
      </p:sp>
      <p:pic>
        <p:nvPicPr>
          <p:cNvPr id="5" name="Image 0" descr="preencoded.png">    </p:cNvPr>
          <p:cNvPicPr>
            <a:picLocks noChangeAspect="1"/>
          </p:cNvPicPr>
          <p:nvPr/>
        </p:nvPicPr>
        <p:blipFill>
          <a:blip r:embed="rId1"/>
          <a:stretch>
            <a:fillRect/>
          </a:stretch>
        </p:blipFill>
        <p:spPr>
          <a:xfrm>
            <a:off x="1083564" y="2135124"/>
            <a:ext cx="301752" cy="301752"/>
          </a:xfrm>
          <a:prstGeom prst="rect">
            <a:avLst/>
          </a:prstGeom>
        </p:spPr>
      </p:pic>
      <p:sp>
        <p:nvSpPr>
          <p:cNvPr id="6" name="Text 3"/>
          <p:cNvSpPr/>
          <p:nvPr/>
        </p:nvSpPr>
        <p:spPr>
          <a:xfrm>
            <a:off x="1645920" y="2057400"/>
            <a:ext cx="384048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Procedimientos Almacenados</a:t>
            </a:r>
            <a:endParaRPr lang="en-US" sz="1600" dirty="0"/>
          </a:p>
        </p:txBody>
      </p:sp>
      <p:sp>
        <p:nvSpPr>
          <p:cNvPr id="7" name="Shape 4"/>
          <p:cNvSpPr/>
          <p:nvPr/>
        </p:nvSpPr>
        <p:spPr>
          <a:xfrm>
            <a:off x="960120" y="2743200"/>
            <a:ext cx="4480560" cy="0"/>
          </a:xfrm>
          <a:prstGeom prst="line">
            <a:avLst/>
          </a:prstGeom>
          <a:noFill/>
          <a:ln w="12700">
            <a:solidFill>
              <a:srgbClr val="2A3B57"/>
            </a:solidFill>
            <a:prstDash val="solid"/>
          </a:ln>
        </p:spPr>
      </p:sp>
      <p:sp>
        <p:nvSpPr>
          <p:cNvPr id="8" name="Text 5"/>
          <p:cNvSpPr/>
          <p:nvPr/>
        </p:nvSpPr>
        <p:spPr>
          <a:xfrm>
            <a:off x="960120" y="2926080"/>
            <a:ext cx="4480560" cy="2651760"/>
          </a:xfrm>
          <a:prstGeom prst="rect">
            <a:avLst/>
          </a:prstGeom>
          <a:noFill/>
          <a:ln/>
        </p:spPr>
        <p:txBody>
          <a:bodyPr wrap="square" rtlCol="0" anchor="t"/>
          <a:lstStyle/>
          <a:p>
            <a:pPr indent="0" marL="0">
              <a:lnSpc>
                <a:spcPct val="118000"/>
              </a:lnSpc>
              <a:buNone/>
            </a:pPr>
            <a:r>
              <a:rPr lang="en-US" sz="1250" dirty="0">
                <a:solidFill>
                  <a:srgbClr val="C9D6E5"/>
                </a:solidFill>
                <a:latin typeface="Calibri" pitchFamily="34" charset="0"/>
                <a:ea typeface="Calibri" pitchFamily="34" charset="-122"/>
                <a:cs typeface="Calibri" pitchFamily="34" charset="-120"/>
              </a:rPr>
              <a:t>Centralizan la lógica compleja en el servidor. Desarrollamos procedures para registrar ventas, registrar devoluciones e ingresar mercadería. Estos validan reglas de negocio, aplican descuentos y modifican inventarios en un solo llamado seguro desde la aplicación.</a:t>
            </a:r>
            <a:endParaRPr lang="en-US" sz="1250" dirty="0"/>
          </a:p>
        </p:txBody>
      </p:sp>
      <p:sp>
        <p:nvSpPr>
          <p:cNvPr id="9" name="Shape 6"/>
          <p:cNvSpPr/>
          <p:nvPr/>
        </p:nvSpPr>
        <p:spPr>
          <a:xfrm>
            <a:off x="6217920" y="1691640"/>
            <a:ext cx="5120640" cy="4114800"/>
          </a:xfrm>
          <a:prstGeom prst="roundRect">
            <a:avLst>
              <a:gd name="adj" fmla="val 2667"/>
            </a:avLst>
          </a:prstGeom>
          <a:solidFill>
            <a:srgbClr val="15223A"/>
          </a:solidFill>
          <a:ln/>
          <a:effectLst>
            <a:outerShdw sx="100000" sy="100000" kx="0" ky="0" algn="bl" rotWithShape="0" blurRad="101600" dist="38100" dir="5400000">
              <a:srgbClr val="000000">
                <a:alpha val="35000"/>
              </a:srgbClr>
            </a:outerShdw>
          </a:effectLst>
        </p:spPr>
      </p:sp>
      <p:sp>
        <p:nvSpPr>
          <p:cNvPr id="10" name="Shape 7"/>
          <p:cNvSpPr/>
          <p:nvPr/>
        </p:nvSpPr>
        <p:spPr>
          <a:xfrm>
            <a:off x="6537960" y="2011680"/>
            <a:ext cx="548640" cy="548640"/>
          </a:xfrm>
          <a:prstGeom prst="ellipse">
            <a:avLst/>
          </a:prstGeom>
          <a:solidFill>
            <a:srgbClr val="8B5CF6"/>
          </a:solidFill>
          <a:ln/>
        </p:spPr>
      </p:sp>
      <p:pic>
        <p:nvPicPr>
          <p:cNvPr id="11" name="Image 1" descr="preencoded.png">    </p:cNvPr>
          <p:cNvPicPr>
            <a:picLocks noChangeAspect="1"/>
          </p:cNvPicPr>
          <p:nvPr/>
        </p:nvPicPr>
        <p:blipFill>
          <a:blip r:embed="rId2"/>
          <a:stretch>
            <a:fillRect/>
          </a:stretch>
        </p:blipFill>
        <p:spPr>
          <a:xfrm>
            <a:off x="6661404" y="2135124"/>
            <a:ext cx="301752" cy="301752"/>
          </a:xfrm>
          <a:prstGeom prst="rect">
            <a:avLst/>
          </a:prstGeom>
        </p:spPr>
      </p:pic>
      <p:sp>
        <p:nvSpPr>
          <p:cNvPr id="12" name="Text 8"/>
          <p:cNvSpPr/>
          <p:nvPr/>
        </p:nvSpPr>
        <p:spPr>
          <a:xfrm>
            <a:off x="7223760" y="2057400"/>
            <a:ext cx="384048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Triggers (Disparadores)</a:t>
            </a:r>
            <a:endParaRPr lang="en-US" sz="1600" dirty="0"/>
          </a:p>
        </p:txBody>
      </p:sp>
      <p:sp>
        <p:nvSpPr>
          <p:cNvPr id="13" name="Shape 9"/>
          <p:cNvSpPr/>
          <p:nvPr/>
        </p:nvSpPr>
        <p:spPr>
          <a:xfrm>
            <a:off x="6537960" y="2743200"/>
            <a:ext cx="4480560" cy="0"/>
          </a:xfrm>
          <a:prstGeom prst="line">
            <a:avLst/>
          </a:prstGeom>
          <a:noFill/>
          <a:ln w="12700">
            <a:solidFill>
              <a:srgbClr val="2A3B57"/>
            </a:solidFill>
            <a:prstDash val="solid"/>
          </a:ln>
        </p:spPr>
      </p:sp>
      <p:sp>
        <p:nvSpPr>
          <p:cNvPr id="14" name="Text 10"/>
          <p:cNvSpPr/>
          <p:nvPr/>
        </p:nvSpPr>
        <p:spPr>
          <a:xfrm>
            <a:off x="6537960" y="2926080"/>
            <a:ext cx="4480560" cy="2651760"/>
          </a:xfrm>
          <a:prstGeom prst="rect">
            <a:avLst/>
          </a:prstGeom>
          <a:noFill/>
          <a:ln/>
        </p:spPr>
        <p:txBody>
          <a:bodyPr wrap="square" rtlCol="0" anchor="t"/>
          <a:lstStyle/>
          <a:p>
            <a:pPr indent="0" marL="0">
              <a:lnSpc>
                <a:spcPct val="118000"/>
              </a:lnSpc>
              <a:buNone/>
            </a:pPr>
            <a:r>
              <a:rPr lang="en-US" sz="1250" dirty="0">
                <a:solidFill>
                  <a:srgbClr val="C9D6E5"/>
                </a:solidFill>
                <a:latin typeface="Calibri" pitchFamily="34" charset="0"/>
                <a:ea typeface="Calibri" pitchFamily="34" charset="-122"/>
                <a:cs typeface="Calibri" pitchFamily="34" charset="-120"/>
              </a:rPr>
              <a:t>Actúan como guardianes silenciosos de la base de datos. Implementamos 8 triggers encargados de generar logs de auditoría (quién y cuándo modifica un dato), revertir inventarios automáticamente ante devoluciones y bloquear operaciones si el stock resultante es negativo.</a:t>
            </a:r>
            <a:endParaRPr lang="en-US" sz="1250" dirty="0"/>
          </a:p>
        </p:txBody>
      </p:sp>
      <p:sp>
        <p:nvSpPr>
          <p:cNvPr id="15" name="Shape 11"/>
          <p:cNvSpPr/>
          <p:nvPr/>
        </p:nvSpPr>
        <p:spPr>
          <a:xfrm>
            <a:off x="640080" y="6446520"/>
            <a:ext cx="274320" cy="274320"/>
          </a:xfrm>
          <a:prstGeom prst="ellipse">
            <a:avLst/>
          </a:prstGeom>
          <a:solidFill>
            <a:srgbClr val="38BDF8"/>
          </a:solidFill>
          <a:ln/>
        </p:spPr>
      </p:sp>
      <p:pic>
        <p:nvPicPr>
          <p:cNvPr id="16" name="Image 2" descr="preencoded.png">    </p:cNvPr>
          <p:cNvPicPr>
            <a:picLocks noChangeAspect="1"/>
          </p:cNvPicPr>
          <p:nvPr/>
        </p:nvPicPr>
        <p:blipFill>
          <a:blip r:embed="rId3"/>
          <a:stretch>
            <a:fillRect/>
          </a:stretch>
        </p:blipFill>
        <p:spPr>
          <a:xfrm>
            <a:off x="701802" y="6508242"/>
            <a:ext cx="150876" cy="150876"/>
          </a:xfrm>
          <a:prstGeom prst="rect">
            <a:avLst/>
          </a:prstGeom>
        </p:spPr>
      </p:pic>
      <p:sp>
        <p:nvSpPr>
          <p:cNvPr id="17" name="Text 12"/>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Daniel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t"/>
          <a:lstStyle/>
          <a:p>
            <a:pPr algn="l" indent="0" marL="0">
              <a:buNone/>
            </a:pPr>
            <a:r>
              <a:rPr lang="en-US" sz="2800" b="1" dirty="0">
                <a:solidFill>
                  <a:srgbClr val="FFFFFF"/>
                </a:solidFill>
                <a:latin typeface="Calibri" pitchFamily="34" charset="0"/>
                <a:ea typeface="Calibri" pitchFamily="34" charset="-122"/>
                <a:cs typeface="Calibri" pitchFamily="34" charset="-120"/>
              </a:rPr>
              <a:t>Control de Acceso Basado en Roles </a:t>
            </a:r>
            <a:pPr algn="l" indent="0" marL="0">
              <a:buNone/>
            </a:pPr>
            <a:r>
              <a:rPr lang="en-US" sz="2800" b="1" dirty="0">
                <a:solidFill>
                  <a:srgbClr val="38BDF8"/>
                </a:solidFill>
                <a:latin typeface="Calibri" pitchFamily="34" charset="0"/>
                <a:ea typeface="Calibri" pitchFamily="34" charset="-122"/>
                <a:cs typeface="Calibri" pitchFamily="34" charset="-120"/>
              </a:rPr>
              <a:t>(RBAC)</a:t>
            </a:r>
            <a:endParaRPr lang="en-US" sz="2800" dirty="0"/>
          </a:p>
        </p:txBody>
      </p:sp>
      <p:sp>
        <p:nvSpPr>
          <p:cNvPr id="3" name="Shape 1"/>
          <p:cNvSpPr/>
          <p:nvPr/>
        </p:nvSpPr>
        <p:spPr>
          <a:xfrm>
            <a:off x="640080" y="1828800"/>
            <a:ext cx="10911535" cy="502920"/>
          </a:xfrm>
          <a:prstGeom prst="roundRect">
            <a:avLst>
              <a:gd name="adj" fmla="val 10909"/>
            </a:avLst>
          </a:prstGeom>
          <a:solidFill>
            <a:srgbClr val="1B2A45"/>
          </a:solidFill>
          <a:ln/>
        </p:spPr>
      </p:sp>
      <p:sp>
        <p:nvSpPr>
          <p:cNvPr id="4" name="Text 2"/>
          <p:cNvSpPr/>
          <p:nvPr/>
        </p:nvSpPr>
        <p:spPr>
          <a:xfrm>
            <a:off x="822960" y="1828800"/>
            <a:ext cx="2926080" cy="502920"/>
          </a:xfrm>
          <a:prstGeom prst="rect">
            <a:avLst/>
          </a:prstGeom>
          <a:noFill/>
          <a:ln/>
        </p:spPr>
        <p:txBody>
          <a:bodyPr wrap="square"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Rol de Sistema</a:t>
            </a:r>
            <a:endParaRPr lang="en-US" sz="1300" dirty="0"/>
          </a:p>
        </p:txBody>
      </p:sp>
      <p:sp>
        <p:nvSpPr>
          <p:cNvPr id="5" name="Text 3"/>
          <p:cNvSpPr/>
          <p:nvPr/>
        </p:nvSpPr>
        <p:spPr>
          <a:xfrm>
            <a:off x="3931920" y="1828800"/>
            <a:ext cx="3108960" cy="502920"/>
          </a:xfrm>
          <a:prstGeom prst="rect">
            <a:avLst/>
          </a:prstGeom>
          <a:noFill/>
          <a:ln/>
        </p:spPr>
        <p:txBody>
          <a:bodyPr wrap="square"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Permisos Asignados (GRANT)</a:t>
            </a:r>
            <a:endParaRPr lang="en-US" sz="1300" dirty="0"/>
          </a:p>
        </p:txBody>
      </p:sp>
      <p:sp>
        <p:nvSpPr>
          <p:cNvPr id="6" name="Text 4"/>
          <p:cNvSpPr/>
          <p:nvPr/>
        </p:nvSpPr>
        <p:spPr>
          <a:xfrm>
            <a:off x="7223760" y="1828800"/>
            <a:ext cx="4327855" cy="502920"/>
          </a:xfrm>
          <a:prstGeom prst="rect">
            <a:avLst/>
          </a:prstGeom>
          <a:noFill/>
          <a:ln/>
        </p:spPr>
        <p:txBody>
          <a:bodyPr wrap="square"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Alcance Operativo</a:t>
            </a:r>
            <a:endParaRPr lang="en-US" sz="1300" dirty="0"/>
          </a:p>
        </p:txBody>
      </p:sp>
      <p:sp>
        <p:nvSpPr>
          <p:cNvPr id="7" name="Shape 5"/>
          <p:cNvSpPr/>
          <p:nvPr/>
        </p:nvSpPr>
        <p:spPr>
          <a:xfrm>
            <a:off x="640080" y="2404872"/>
            <a:ext cx="10911535" cy="868680"/>
          </a:xfrm>
          <a:prstGeom prst="roundRect">
            <a:avLst>
              <a:gd name="adj" fmla="val 6316"/>
            </a:avLst>
          </a:prstGeom>
          <a:solidFill>
            <a:srgbClr val="15223A"/>
          </a:solidFill>
          <a:ln/>
        </p:spPr>
      </p:sp>
      <p:sp>
        <p:nvSpPr>
          <p:cNvPr id="8" name="Shape 6"/>
          <p:cNvSpPr/>
          <p:nvPr/>
        </p:nvSpPr>
        <p:spPr>
          <a:xfrm>
            <a:off x="822960" y="2638044"/>
            <a:ext cx="402336" cy="402336"/>
          </a:xfrm>
          <a:prstGeom prst="ellipse">
            <a:avLst/>
          </a:prstGeom>
          <a:solidFill>
            <a:srgbClr val="8B5CF6"/>
          </a:solidFill>
          <a:ln/>
        </p:spPr>
      </p:sp>
      <p:pic>
        <p:nvPicPr>
          <p:cNvPr id="9" name="Image 0" descr="preencoded.png">    </p:cNvPr>
          <p:cNvPicPr>
            <a:picLocks noChangeAspect="1"/>
          </p:cNvPicPr>
          <p:nvPr/>
        </p:nvPicPr>
        <p:blipFill>
          <a:blip r:embed="rId1"/>
          <a:stretch>
            <a:fillRect/>
          </a:stretch>
        </p:blipFill>
        <p:spPr>
          <a:xfrm>
            <a:off x="913486" y="2728570"/>
            <a:ext cx="221285" cy="221285"/>
          </a:xfrm>
          <a:prstGeom prst="rect">
            <a:avLst/>
          </a:prstGeom>
        </p:spPr>
      </p:pic>
      <p:sp>
        <p:nvSpPr>
          <p:cNvPr id="10" name="Text 7"/>
          <p:cNvSpPr/>
          <p:nvPr/>
        </p:nvSpPr>
        <p:spPr>
          <a:xfrm>
            <a:off x="1353312" y="2404872"/>
            <a:ext cx="2395728" cy="86868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Administrador</a:t>
            </a:r>
            <a:endParaRPr lang="en-US" sz="1350" dirty="0"/>
          </a:p>
        </p:txBody>
      </p:sp>
      <p:sp>
        <p:nvSpPr>
          <p:cNvPr id="11" name="Text 8"/>
          <p:cNvSpPr/>
          <p:nvPr/>
        </p:nvSpPr>
        <p:spPr>
          <a:xfrm>
            <a:off x="3931920" y="2404872"/>
            <a:ext cx="3108960" cy="868680"/>
          </a:xfrm>
          <a:prstGeom prst="rect">
            <a:avLst/>
          </a:prstGeom>
          <a:noFill/>
          <a:ln/>
        </p:spPr>
        <p:txBody>
          <a:bodyPr wrap="square" rtlCol="0" anchor="ctr"/>
          <a:lstStyle/>
          <a:p>
            <a:pPr indent="0" marL="0">
              <a:buNone/>
            </a:pPr>
            <a:r>
              <a:rPr lang="en-US" sz="1250" dirty="0">
                <a:solidFill>
                  <a:srgbClr val="38BDF8"/>
                </a:solidFill>
                <a:latin typeface="Courier New" pitchFamily="34" charset="0"/>
                <a:ea typeface="Courier New" pitchFamily="34" charset="-122"/>
                <a:cs typeface="Courier New" pitchFamily="34" charset="-120"/>
              </a:rPr>
              <a:t>ALL PRIVILEGES</a:t>
            </a:r>
            <a:endParaRPr lang="en-US" sz="1250" dirty="0"/>
          </a:p>
        </p:txBody>
      </p:sp>
      <p:sp>
        <p:nvSpPr>
          <p:cNvPr id="12" name="Text 9"/>
          <p:cNvSpPr/>
          <p:nvPr/>
        </p:nvSpPr>
        <p:spPr>
          <a:xfrm>
            <a:off x="7223760" y="2404872"/>
            <a:ext cx="4236415" cy="868680"/>
          </a:xfrm>
          <a:prstGeom prst="rect">
            <a:avLst/>
          </a:prstGeom>
          <a:noFill/>
          <a:ln/>
        </p:spPr>
        <p:txBody>
          <a:bodyPr wrap="square" rtlCol="0" anchor="ctr"/>
          <a:lstStyle/>
          <a:p>
            <a:pPr indent="0" marL="0">
              <a:buNone/>
            </a:pPr>
            <a:r>
              <a:rPr lang="en-US" sz="1250" dirty="0">
                <a:solidFill>
                  <a:srgbClr val="C9D6E5"/>
                </a:solidFill>
                <a:latin typeface="Calibri" pitchFamily="34" charset="0"/>
                <a:ea typeface="Calibri" pitchFamily="34" charset="-122"/>
                <a:cs typeface="Calibri" pitchFamily="34" charset="-120"/>
              </a:rPr>
              <a:t>Control total del esquema DDL y DML.</a:t>
            </a:r>
            <a:endParaRPr lang="en-US" sz="1250" dirty="0"/>
          </a:p>
        </p:txBody>
      </p:sp>
      <p:sp>
        <p:nvSpPr>
          <p:cNvPr id="13" name="Shape 10"/>
          <p:cNvSpPr/>
          <p:nvPr/>
        </p:nvSpPr>
        <p:spPr>
          <a:xfrm>
            <a:off x="640080" y="3346704"/>
            <a:ext cx="10911535" cy="868680"/>
          </a:xfrm>
          <a:prstGeom prst="roundRect">
            <a:avLst>
              <a:gd name="adj" fmla="val 6316"/>
            </a:avLst>
          </a:prstGeom>
          <a:solidFill>
            <a:srgbClr val="1B2A45"/>
          </a:solidFill>
          <a:ln/>
        </p:spPr>
      </p:sp>
      <p:sp>
        <p:nvSpPr>
          <p:cNvPr id="14" name="Shape 11"/>
          <p:cNvSpPr/>
          <p:nvPr/>
        </p:nvSpPr>
        <p:spPr>
          <a:xfrm>
            <a:off x="822960" y="3579876"/>
            <a:ext cx="402336" cy="402336"/>
          </a:xfrm>
          <a:prstGeom prst="ellipse">
            <a:avLst/>
          </a:prstGeom>
          <a:solidFill>
            <a:srgbClr val="38BDF8"/>
          </a:solidFill>
          <a:ln/>
        </p:spPr>
      </p:sp>
      <p:pic>
        <p:nvPicPr>
          <p:cNvPr id="15" name="Image 1" descr="preencoded.png">    </p:cNvPr>
          <p:cNvPicPr>
            <a:picLocks noChangeAspect="1"/>
          </p:cNvPicPr>
          <p:nvPr/>
        </p:nvPicPr>
        <p:blipFill>
          <a:blip r:embed="rId2"/>
          <a:stretch>
            <a:fillRect/>
          </a:stretch>
        </p:blipFill>
        <p:spPr>
          <a:xfrm>
            <a:off x="913486" y="3670402"/>
            <a:ext cx="221285" cy="221285"/>
          </a:xfrm>
          <a:prstGeom prst="rect">
            <a:avLst/>
          </a:prstGeom>
        </p:spPr>
      </p:pic>
      <p:sp>
        <p:nvSpPr>
          <p:cNvPr id="16" name="Text 12"/>
          <p:cNvSpPr/>
          <p:nvPr/>
        </p:nvSpPr>
        <p:spPr>
          <a:xfrm>
            <a:off x="1353312" y="3346704"/>
            <a:ext cx="2395728" cy="86868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Gerente</a:t>
            </a:r>
            <a:endParaRPr lang="en-US" sz="1350" dirty="0"/>
          </a:p>
        </p:txBody>
      </p:sp>
      <p:sp>
        <p:nvSpPr>
          <p:cNvPr id="17" name="Text 13"/>
          <p:cNvSpPr/>
          <p:nvPr/>
        </p:nvSpPr>
        <p:spPr>
          <a:xfrm>
            <a:off x="3931920" y="3346704"/>
            <a:ext cx="3108960" cy="868680"/>
          </a:xfrm>
          <a:prstGeom prst="rect">
            <a:avLst/>
          </a:prstGeom>
          <a:noFill/>
          <a:ln/>
        </p:spPr>
        <p:txBody>
          <a:bodyPr wrap="square" rtlCol="0" anchor="ctr"/>
          <a:lstStyle/>
          <a:p>
            <a:pPr indent="0" marL="0">
              <a:buNone/>
            </a:pPr>
            <a:r>
              <a:rPr lang="en-US" sz="1250" dirty="0">
                <a:solidFill>
                  <a:srgbClr val="38BDF8"/>
                </a:solidFill>
                <a:latin typeface="Courier New" pitchFamily="34" charset="0"/>
                <a:ea typeface="Courier New" pitchFamily="34" charset="-122"/>
                <a:cs typeface="Courier New" pitchFamily="34" charset="-120"/>
              </a:rPr>
              <a:t>SELECT, EXECUTE</a:t>
            </a:r>
            <a:endParaRPr lang="en-US" sz="1250" dirty="0"/>
          </a:p>
        </p:txBody>
      </p:sp>
      <p:sp>
        <p:nvSpPr>
          <p:cNvPr id="18" name="Text 14"/>
          <p:cNvSpPr/>
          <p:nvPr/>
        </p:nvSpPr>
        <p:spPr>
          <a:xfrm>
            <a:off x="7223760" y="3346704"/>
            <a:ext cx="4236415" cy="868680"/>
          </a:xfrm>
          <a:prstGeom prst="rect">
            <a:avLst/>
          </a:prstGeom>
          <a:noFill/>
          <a:ln/>
        </p:spPr>
        <p:txBody>
          <a:bodyPr wrap="square" rtlCol="0" anchor="ctr"/>
          <a:lstStyle/>
          <a:p>
            <a:pPr indent="0" marL="0">
              <a:buNone/>
            </a:pPr>
            <a:r>
              <a:rPr lang="en-US" sz="1250" dirty="0">
                <a:solidFill>
                  <a:srgbClr val="C9D6E5"/>
                </a:solidFill>
                <a:latin typeface="Calibri" pitchFamily="34" charset="0"/>
                <a:ea typeface="Calibri" pitchFamily="34" charset="-122"/>
                <a:cs typeface="Calibri" pitchFamily="34" charset="-120"/>
              </a:rPr>
              <a:t>Lectura estratégica y ejecución de reportes BI.</a:t>
            </a:r>
            <a:endParaRPr lang="en-US" sz="1250" dirty="0"/>
          </a:p>
        </p:txBody>
      </p:sp>
      <p:sp>
        <p:nvSpPr>
          <p:cNvPr id="19" name="Shape 15"/>
          <p:cNvSpPr/>
          <p:nvPr/>
        </p:nvSpPr>
        <p:spPr>
          <a:xfrm>
            <a:off x="640080" y="4288536"/>
            <a:ext cx="10911535" cy="868680"/>
          </a:xfrm>
          <a:prstGeom prst="roundRect">
            <a:avLst>
              <a:gd name="adj" fmla="val 6316"/>
            </a:avLst>
          </a:prstGeom>
          <a:solidFill>
            <a:srgbClr val="15223A"/>
          </a:solidFill>
          <a:ln/>
        </p:spPr>
      </p:sp>
      <p:sp>
        <p:nvSpPr>
          <p:cNvPr id="20" name="Shape 16"/>
          <p:cNvSpPr/>
          <p:nvPr/>
        </p:nvSpPr>
        <p:spPr>
          <a:xfrm>
            <a:off x="822960" y="4521708"/>
            <a:ext cx="402336" cy="402336"/>
          </a:xfrm>
          <a:prstGeom prst="ellipse">
            <a:avLst/>
          </a:prstGeom>
          <a:solidFill>
            <a:srgbClr val="38BDF8"/>
          </a:solidFill>
          <a:ln/>
        </p:spPr>
      </p:sp>
      <p:pic>
        <p:nvPicPr>
          <p:cNvPr id="21" name="Image 2" descr="preencoded.png">    </p:cNvPr>
          <p:cNvPicPr>
            <a:picLocks noChangeAspect="1"/>
          </p:cNvPicPr>
          <p:nvPr/>
        </p:nvPicPr>
        <p:blipFill>
          <a:blip r:embed="rId3"/>
          <a:stretch>
            <a:fillRect/>
          </a:stretch>
        </p:blipFill>
        <p:spPr>
          <a:xfrm>
            <a:off x="913486" y="4612234"/>
            <a:ext cx="221285" cy="221285"/>
          </a:xfrm>
          <a:prstGeom prst="rect">
            <a:avLst/>
          </a:prstGeom>
        </p:spPr>
      </p:pic>
      <p:sp>
        <p:nvSpPr>
          <p:cNvPr id="22" name="Text 17"/>
          <p:cNvSpPr/>
          <p:nvPr/>
        </p:nvSpPr>
        <p:spPr>
          <a:xfrm>
            <a:off x="1353312" y="4288536"/>
            <a:ext cx="2395728" cy="86868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Cajero / Vendedor</a:t>
            </a:r>
            <a:endParaRPr lang="en-US" sz="1350" dirty="0"/>
          </a:p>
        </p:txBody>
      </p:sp>
      <p:sp>
        <p:nvSpPr>
          <p:cNvPr id="23" name="Text 18"/>
          <p:cNvSpPr/>
          <p:nvPr/>
        </p:nvSpPr>
        <p:spPr>
          <a:xfrm>
            <a:off x="3931920" y="4288536"/>
            <a:ext cx="3108960" cy="868680"/>
          </a:xfrm>
          <a:prstGeom prst="rect">
            <a:avLst/>
          </a:prstGeom>
          <a:noFill/>
          <a:ln/>
        </p:spPr>
        <p:txBody>
          <a:bodyPr wrap="square" rtlCol="0" anchor="ctr"/>
          <a:lstStyle/>
          <a:p>
            <a:pPr indent="0" marL="0">
              <a:buNone/>
            </a:pPr>
            <a:r>
              <a:rPr lang="en-US" sz="1250" dirty="0">
                <a:solidFill>
                  <a:srgbClr val="38BDF8"/>
                </a:solidFill>
                <a:latin typeface="Courier New" pitchFamily="34" charset="0"/>
                <a:ea typeface="Courier New" pitchFamily="34" charset="-122"/>
                <a:cs typeface="Courier New" pitchFamily="34" charset="-120"/>
              </a:rPr>
              <a:t>SELECT, INSERT, EXECUTE</a:t>
            </a:r>
            <a:endParaRPr lang="en-US" sz="1250" dirty="0"/>
          </a:p>
        </p:txBody>
      </p:sp>
      <p:sp>
        <p:nvSpPr>
          <p:cNvPr id="24" name="Text 19"/>
          <p:cNvSpPr/>
          <p:nvPr/>
        </p:nvSpPr>
        <p:spPr>
          <a:xfrm>
            <a:off x="7223760" y="4288536"/>
            <a:ext cx="4236415" cy="868680"/>
          </a:xfrm>
          <a:prstGeom prst="rect">
            <a:avLst/>
          </a:prstGeom>
          <a:noFill/>
          <a:ln/>
        </p:spPr>
        <p:txBody>
          <a:bodyPr wrap="square" rtlCol="0" anchor="ctr"/>
          <a:lstStyle/>
          <a:p>
            <a:pPr indent="0" marL="0">
              <a:buNone/>
            </a:pPr>
            <a:r>
              <a:rPr lang="en-US" sz="1250" dirty="0">
                <a:solidFill>
                  <a:srgbClr val="C9D6E5"/>
                </a:solidFill>
                <a:latin typeface="Calibri" pitchFamily="34" charset="0"/>
                <a:ea typeface="Calibri" pitchFamily="34" charset="-122"/>
                <a:cs typeface="Calibri" pitchFamily="34" charset="-120"/>
              </a:rPr>
              <a:t>Facturación de ventas y consulta de catálogos.</a:t>
            </a:r>
            <a:endParaRPr lang="en-US" sz="1250" dirty="0"/>
          </a:p>
        </p:txBody>
      </p:sp>
      <p:sp>
        <p:nvSpPr>
          <p:cNvPr id="25" name="Shape 20"/>
          <p:cNvSpPr/>
          <p:nvPr/>
        </p:nvSpPr>
        <p:spPr>
          <a:xfrm>
            <a:off x="640080" y="5230368"/>
            <a:ext cx="10911535" cy="868680"/>
          </a:xfrm>
          <a:prstGeom prst="roundRect">
            <a:avLst>
              <a:gd name="adj" fmla="val 6316"/>
            </a:avLst>
          </a:prstGeom>
          <a:solidFill>
            <a:srgbClr val="1B2A45"/>
          </a:solidFill>
          <a:ln/>
        </p:spPr>
      </p:sp>
      <p:sp>
        <p:nvSpPr>
          <p:cNvPr id="26" name="Shape 21"/>
          <p:cNvSpPr/>
          <p:nvPr/>
        </p:nvSpPr>
        <p:spPr>
          <a:xfrm>
            <a:off x="822960" y="5463540"/>
            <a:ext cx="402336" cy="402336"/>
          </a:xfrm>
          <a:prstGeom prst="ellipse">
            <a:avLst/>
          </a:prstGeom>
          <a:solidFill>
            <a:srgbClr val="38BDF8"/>
          </a:solidFill>
          <a:ln/>
        </p:spPr>
      </p:sp>
      <p:pic>
        <p:nvPicPr>
          <p:cNvPr id="27" name="Image 3" descr="preencoded.png">    </p:cNvPr>
          <p:cNvPicPr>
            <a:picLocks noChangeAspect="1"/>
          </p:cNvPicPr>
          <p:nvPr/>
        </p:nvPicPr>
        <p:blipFill>
          <a:blip r:embed="rId4"/>
          <a:stretch>
            <a:fillRect/>
          </a:stretch>
        </p:blipFill>
        <p:spPr>
          <a:xfrm>
            <a:off x="913486" y="5554066"/>
            <a:ext cx="221285" cy="221285"/>
          </a:xfrm>
          <a:prstGeom prst="rect">
            <a:avLst/>
          </a:prstGeom>
        </p:spPr>
      </p:pic>
      <p:sp>
        <p:nvSpPr>
          <p:cNvPr id="28" name="Text 22"/>
          <p:cNvSpPr/>
          <p:nvPr/>
        </p:nvSpPr>
        <p:spPr>
          <a:xfrm>
            <a:off x="1353312" y="5230368"/>
            <a:ext cx="2395728" cy="86868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Auditor</a:t>
            </a:r>
            <a:endParaRPr lang="en-US" sz="1350" dirty="0"/>
          </a:p>
        </p:txBody>
      </p:sp>
      <p:sp>
        <p:nvSpPr>
          <p:cNvPr id="29" name="Text 23"/>
          <p:cNvSpPr/>
          <p:nvPr/>
        </p:nvSpPr>
        <p:spPr>
          <a:xfrm>
            <a:off x="3931920" y="5230368"/>
            <a:ext cx="3108960" cy="868680"/>
          </a:xfrm>
          <a:prstGeom prst="rect">
            <a:avLst/>
          </a:prstGeom>
          <a:noFill/>
          <a:ln/>
        </p:spPr>
        <p:txBody>
          <a:bodyPr wrap="square" rtlCol="0" anchor="ctr"/>
          <a:lstStyle/>
          <a:p>
            <a:pPr indent="0" marL="0">
              <a:buNone/>
            </a:pPr>
            <a:r>
              <a:rPr lang="en-US" sz="1250" dirty="0">
                <a:solidFill>
                  <a:srgbClr val="38BDF8"/>
                </a:solidFill>
                <a:latin typeface="Courier New" pitchFamily="34" charset="0"/>
                <a:ea typeface="Courier New" pitchFamily="34" charset="-122"/>
                <a:cs typeface="Courier New" pitchFamily="34" charset="-120"/>
              </a:rPr>
              <a:t>SELECT (Solo Auditoría)</a:t>
            </a:r>
            <a:endParaRPr lang="en-US" sz="1250" dirty="0"/>
          </a:p>
        </p:txBody>
      </p:sp>
      <p:sp>
        <p:nvSpPr>
          <p:cNvPr id="30" name="Text 24"/>
          <p:cNvSpPr/>
          <p:nvPr/>
        </p:nvSpPr>
        <p:spPr>
          <a:xfrm>
            <a:off x="7223760" y="5230368"/>
            <a:ext cx="4236415" cy="868680"/>
          </a:xfrm>
          <a:prstGeom prst="rect">
            <a:avLst/>
          </a:prstGeom>
          <a:noFill/>
          <a:ln/>
        </p:spPr>
        <p:txBody>
          <a:bodyPr wrap="square" rtlCol="0" anchor="ctr"/>
          <a:lstStyle/>
          <a:p>
            <a:pPr indent="0" marL="0">
              <a:buNone/>
            </a:pPr>
            <a:r>
              <a:rPr lang="en-US" sz="1250" dirty="0">
                <a:solidFill>
                  <a:srgbClr val="C9D6E5"/>
                </a:solidFill>
                <a:latin typeface="Calibri" pitchFamily="34" charset="0"/>
                <a:ea typeface="Calibri" pitchFamily="34" charset="-122"/>
                <a:cs typeface="Calibri" pitchFamily="34" charset="-120"/>
              </a:rPr>
              <a:t>Trazabilidad de logs sin permisos de edición.</a:t>
            </a:r>
            <a:endParaRPr lang="en-US" sz="1250" dirty="0"/>
          </a:p>
        </p:txBody>
      </p:sp>
      <p:sp>
        <p:nvSpPr>
          <p:cNvPr id="31" name="Shape 25"/>
          <p:cNvSpPr/>
          <p:nvPr/>
        </p:nvSpPr>
        <p:spPr>
          <a:xfrm>
            <a:off x="640080" y="6446520"/>
            <a:ext cx="274320" cy="274320"/>
          </a:xfrm>
          <a:prstGeom prst="ellipse">
            <a:avLst/>
          </a:prstGeom>
          <a:solidFill>
            <a:srgbClr val="38BDF8"/>
          </a:solidFill>
          <a:ln/>
        </p:spPr>
      </p:sp>
      <p:pic>
        <p:nvPicPr>
          <p:cNvPr id="32" name="Image 4" descr="preencoded.png">    </p:cNvPr>
          <p:cNvPicPr>
            <a:picLocks noChangeAspect="1"/>
          </p:cNvPicPr>
          <p:nvPr/>
        </p:nvPicPr>
        <p:blipFill>
          <a:blip r:embed="rId5"/>
          <a:stretch>
            <a:fillRect/>
          </a:stretch>
        </p:blipFill>
        <p:spPr>
          <a:xfrm>
            <a:off x="701802" y="6508242"/>
            <a:ext cx="150876" cy="150876"/>
          </a:xfrm>
          <a:prstGeom prst="rect">
            <a:avLst/>
          </a:prstGeom>
        </p:spPr>
      </p:pic>
      <p:sp>
        <p:nvSpPr>
          <p:cNvPr id="33" name="Text 26"/>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María José</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Garantía Transaccional </a:t>
            </a:r>
            <a:pPr algn="l" indent="0" marL="0">
              <a:buNone/>
            </a:pPr>
            <a:r>
              <a:rPr lang="en-US" sz="3200" b="1" dirty="0">
                <a:solidFill>
                  <a:srgbClr val="38BDF8"/>
                </a:solidFill>
                <a:latin typeface="Calibri" pitchFamily="34" charset="0"/>
                <a:ea typeface="Calibri" pitchFamily="34" charset="-122"/>
                <a:cs typeface="Calibri" pitchFamily="34" charset="-120"/>
              </a:rPr>
              <a:t>ACID</a:t>
            </a:r>
            <a:endParaRPr lang="en-US" sz="3200" dirty="0"/>
          </a:p>
        </p:txBody>
      </p:sp>
      <p:sp>
        <p:nvSpPr>
          <p:cNvPr id="3" name="Shape 1"/>
          <p:cNvSpPr/>
          <p:nvPr/>
        </p:nvSpPr>
        <p:spPr>
          <a:xfrm>
            <a:off x="640080" y="1737360"/>
            <a:ext cx="3931920" cy="4023360"/>
          </a:xfrm>
          <a:prstGeom prst="roundRect">
            <a:avLst>
              <a:gd name="adj" fmla="val 2791"/>
            </a:avLst>
          </a:prstGeom>
          <a:solidFill>
            <a:srgbClr val="15223A"/>
          </a:solidFill>
          <a:ln/>
          <a:effectLst>
            <a:outerShdw sx="100000" sy="100000" kx="0" ky="0" algn="bl" rotWithShape="0" blurRad="101600" dist="38100" dir="5400000">
              <a:srgbClr val="000000">
                <a:alpha val="35000"/>
              </a:srgbClr>
            </a:outerShdw>
          </a:effectLst>
        </p:spPr>
      </p:sp>
      <p:sp>
        <p:nvSpPr>
          <p:cNvPr id="4" name="Shape 2"/>
          <p:cNvSpPr/>
          <p:nvPr/>
        </p:nvSpPr>
        <p:spPr>
          <a:xfrm>
            <a:off x="2194560" y="2148840"/>
            <a:ext cx="822960" cy="822960"/>
          </a:xfrm>
          <a:prstGeom prst="ellipse">
            <a:avLst/>
          </a:prstGeom>
          <a:solidFill>
            <a:srgbClr val="38BDF8"/>
          </a:solidFill>
          <a:ln/>
        </p:spPr>
      </p:sp>
      <p:pic>
        <p:nvPicPr>
          <p:cNvPr id="5" name="Image 0" descr="preencoded.png">    </p:cNvPr>
          <p:cNvPicPr>
            <a:picLocks noChangeAspect="1"/>
          </p:cNvPicPr>
          <p:nvPr/>
        </p:nvPicPr>
        <p:blipFill>
          <a:blip r:embed="rId1"/>
          <a:stretch>
            <a:fillRect/>
          </a:stretch>
        </p:blipFill>
        <p:spPr>
          <a:xfrm>
            <a:off x="2400300" y="2354580"/>
            <a:ext cx="411480" cy="411480"/>
          </a:xfrm>
          <a:prstGeom prst="rect">
            <a:avLst/>
          </a:prstGeom>
        </p:spPr>
      </p:pic>
      <p:sp>
        <p:nvSpPr>
          <p:cNvPr id="6" name="Text 3"/>
          <p:cNvSpPr/>
          <p:nvPr/>
        </p:nvSpPr>
        <p:spPr>
          <a:xfrm>
            <a:off x="640080" y="3154680"/>
            <a:ext cx="3931920" cy="914400"/>
          </a:xfrm>
          <a:prstGeom prst="rect">
            <a:avLst/>
          </a:prstGeom>
          <a:noFill/>
          <a:ln/>
        </p:spPr>
        <p:txBody>
          <a:bodyPr wrap="square" rtlCol="0" anchor="ctr"/>
          <a:lstStyle/>
          <a:p>
            <a:pPr algn="ctr" indent="0" marL="0">
              <a:buNone/>
            </a:pPr>
            <a:r>
              <a:rPr lang="en-US" sz="5400" b="1" dirty="0">
                <a:solidFill>
                  <a:srgbClr val="38BDF8"/>
                </a:solidFill>
                <a:latin typeface="Calibri" pitchFamily="34" charset="0"/>
                <a:ea typeface="Calibri" pitchFamily="34" charset="-122"/>
                <a:cs typeface="Calibri" pitchFamily="34" charset="-120"/>
              </a:rPr>
              <a:t>100%</a:t>
            </a:r>
            <a:endParaRPr lang="en-US" sz="5400" dirty="0"/>
          </a:p>
        </p:txBody>
      </p:sp>
      <p:sp>
        <p:nvSpPr>
          <p:cNvPr id="7" name="Text 4"/>
          <p:cNvSpPr/>
          <p:nvPr/>
        </p:nvSpPr>
        <p:spPr>
          <a:xfrm>
            <a:off x="640080" y="4114800"/>
            <a:ext cx="393192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Integridad de Datos</a:t>
            </a:r>
            <a:endParaRPr lang="en-US" sz="1500" dirty="0"/>
          </a:p>
        </p:txBody>
      </p:sp>
      <p:sp>
        <p:nvSpPr>
          <p:cNvPr id="8" name="Text 5"/>
          <p:cNvSpPr/>
          <p:nvPr/>
        </p:nvSpPr>
        <p:spPr>
          <a:xfrm>
            <a:off x="1005840" y="4663440"/>
            <a:ext cx="3200400" cy="822960"/>
          </a:xfrm>
          <a:prstGeom prst="rect">
            <a:avLst/>
          </a:prstGeom>
          <a:noFill/>
          <a:ln/>
        </p:spPr>
        <p:txBody>
          <a:bodyPr wrap="square" rtlCol="0" anchor="ctr"/>
          <a:lstStyle/>
          <a:p>
            <a:pPr algn="ctr" indent="0" marL="0">
              <a:buNone/>
            </a:pPr>
            <a:r>
              <a:rPr lang="en-US" sz="1150" dirty="0">
                <a:solidFill>
                  <a:srgbClr val="8FA3BF"/>
                </a:solidFill>
                <a:latin typeface="Calibri" pitchFamily="34" charset="0"/>
                <a:ea typeface="Calibri" pitchFamily="34" charset="-122"/>
                <a:cs typeface="Calibri" pitchFamily="34" charset="-120"/>
              </a:rPr>
              <a:t>Bloques START TRANSACTION con ROLLBACK automático en caso de fallo.</a:t>
            </a:r>
            <a:endParaRPr lang="en-US" sz="1150" dirty="0"/>
          </a:p>
        </p:txBody>
      </p:sp>
      <p:sp>
        <p:nvSpPr>
          <p:cNvPr id="9" name="Text 6"/>
          <p:cNvSpPr/>
          <p:nvPr/>
        </p:nvSpPr>
        <p:spPr>
          <a:xfrm>
            <a:off x="5029200" y="1737360"/>
            <a:ext cx="649224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Transacciones Seguras Implementadas</a:t>
            </a:r>
            <a:endParaRPr lang="en-US" sz="1700" dirty="0"/>
          </a:p>
        </p:txBody>
      </p:sp>
      <p:sp>
        <p:nvSpPr>
          <p:cNvPr id="10" name="Shape 7"/>
          <p:cNvSpPr/>
          <p:nvPr/>
        </p:nvSpPr>
        <p:spPr>
          <a:xfrm>
            <a:off x="5029200" y="2331720"/>
            <a:ext cx="384048" cy="384048"/>
          </a:xfrm>
          <a:prstGeom prst="ellipse">
            <a:avLst/>
          </a:prstGeom>
          <a:solidFill>
            <a:srgbClr val="38BDF8"/>
          </a:solidFill>
          <a:ln/>
        </p:spPr>
      </p:sp>
      <p:pic>
        <p:nvPicPr>
          <p:cNvPr id="11" name="Image 1" descr="preencoded.png">    </p:cNvPr>
          <p:cNvPicPr>
            <a:picLocks noChangeAspect="1"/>
          </p:cNvPicPr>
          <p:nvPr/>
        </p:nvPicPr>
        <p:blipFill>
          <a:blip r:embed="rId2"/>
          <a:stretch>
            <a:fillRect/>
          </a:stretch>
        </p:blipFill>
        <p:spPr>
          <a:xfrm>
            <a:off x="5115611" y="2418131"/>
            <a:ext cx="211226" cy="211226"/>
          </a:xfrm>
          <a:prstGeom prst="rect">
            <a:avLst/>
          </a:prstGeom>
        </p:spPr>
      </p:pic>
      <p:sp>
        <p:nvSpPr>
          <p:cNvPr id="12" name="Text 8"/>
          <p:cNvSpPr/>
          <p:nvPr/>
        </p:nvSpPr>
        <p:spPr>
          <a:xfrm>
            <a:off x="5623560" y="2258568"/>
            <a:ext cx="5852160" cy="777240"/>
          </a:xfrm>
          <a:prstGeom prst="rect">
            <a:avLst/>
          </a:prstGeom>
          <a:noFill/>
          <a:ln/>
        </p:spPr>
        <p:txBody>
          <a:bodyPr wrap="square" rtlCol="0" anchor="ctr"/>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Atomicidad: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O se factura todo (cabecera, ítems e inventario) o no se guarda nada.</a:t>
            </a:r>
            <a:endParaRPr lang="en-US" sz="1350" dirty="0"/>
          </a:p>
        </p:txBody>
      </p:sp>
      <p:sp>
        <p:nvSpPr>
          <p:cNvPr id="13" name="Shape 9"/>
          <p:cNvSpPr/>
          <p:nvPr/>
        </p:nvSpPr>
        <p:spPr>
          <a:xfrm>
            <a:off x="5029200" y="3383280"/>
            <a:ext cx="384048" cy="384048"/>
          </a:xfrm>
          <a:prstGeom prst="ellipse">
            <a:avLst/>
          </a:prstGeom>
          <a:solidFill>
            <a:srgbClr val="8B5CF6"/>
          </a:solidFill>
          <a:ln/>
        </p:spPr>
      </p:sp>
      <p:pic>
        <p:nvPicPr>
          <p:cNvPr id="14" name="Image 2" descr="preencoded.png">    </p:cNvPr>
          <p:cNvPicPr>
            <a:picLocks noChangeAspect="1"/>
          </p:cNvPicPr>
          <p:nvPr/>
        </p:nvPicPr>
        <p:blipFill>
          <a:blip r:embed="rId3"/>
          <a:stretch>
            <a:fillRect/>
          </a:stretch>
        </p:blipFill>
        <p:spPr>
          <a:xfrm>
            <a:off x="5115611" y="3469691"/>
            <a:ext cx="211226" cy="211226"/>
          </a:xfrm>
          <a:prstGeom prst="rect">
            <a:avLst/>
          </a:prstGeom>
        </p:spPr>
      </p:pic>
      <p:sp>
        <p:nvSpPr>
          <p:cNvPr id="15" name="Text 10"/>
          <p:cNvSpPr/>
          <p:nvPr/>
        </p:nvSpPr>
        <p:spPr>
          <a:xfrm>
            <a:off x="5623560" y="3310128"/>
            <a:ext cx="5852160" cy="777240"/>
          </a:xfrm>
          <a:prstGeom prst="rect">
            <a:avLst/>
          </a:prstGeom>
          <a:noFill/>
          <a:ln/>
        </p:spPr>
        <p:txBody>
          <a:bodyPr wrap="square" rtlCol="0" anchor="ctr"/>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Consistencia: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Se respetan los umbrales (ej. prohibido el stock menor a 0).</a:t>
            </a:r>
            <a:endParaRPr lang="en-US" sz="1350" dirty="0"/>
          </a:p>
        </p:txBody>
      </p:sp>
      <p:sp>
        <p:nvSpPr>
          <p:cNvPr id="16" name="Shape 11"/>
          <p:cNvSpPr/>
          <p:nvPr/>
        </p:nvSpPr>
        <p:spPr>
          <a:xfrm>
            <a:off x="5029200" y="4434840"/>
            <a:ext cx="384048" cy="384048"/>
          </a:xfrm>
          <a:prstGeom prst="ellipse">
            <a:avLst/>
          </a:prstGeom>
          <a:solidFill>
            <a:srgbClr val="38BDF8"/>
          </a:solidFill>
          <a:ln/>
        </p:spPr>
      </p:sp>
      <p:pic>
        <p:nvPicPr>
          <p:cNvPr id="17" name="Image 3" descr="preencoded.png">    </p:cNvPr>
          <p:cNvPicPr>
            <a:picLocks noChangeAspect="1"/>
          </p:cNvPicPr>
          <p:nvPr/>
        </p:nvPicPr>
        <p:blipFill>
          <a:blip r:embed="rId4"/>
          <a:stretch>
            <a:fillRect/>
          </a:stretch>
        </p:blipFill>
        <p:spPr>
          <a:xfrm>
            <a:off x="5115611" y="4521251"/>
            <a:ext cx="211226" cy="211226"/>
          </a:xfrm>
          <a:prstGeom prst="rect">
            <a:avLst/>
          </a:prstGeom>
        </p:spPr>
      </p:pic>
      <p:sp>
        <p:nvSpPr>
          <p:cNvPr id="18" name="Text 12"/>
          <p:cNvSpPr/>
          <p:nvPr/>
        </p:nvSpPr>
        <p:spPr>
          <a:xfrm>
            <a:off x="5623560" y="4361688"/>
            <a:ext cx="5852160" cy="777240"/>
          </a:xfrm>
          <a:prstGeom prst="rect">
            <a:avLst/>
          </a:prstGeom>
          <a:noFill/>
          <a:ln/>
        </p:spPr>
        <p:txBody>
          <a:bodyPr wrap="square" rtlCol="0" anchor="ctr"/>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Aislamiento: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Bloqueos (FOR UPDATE) evitan que dos cajeros vendan el mismo zapato.</a:t>
            </a:r>
            <a:endParaRPr lang="en-US" sz="1350" dirty="0"/>
          </a:p>
        </p:txBody>
      </p:sp>
      <p:sp>
        <p:nvSpPr>
          <p:cNvPr id="19" name="Shape 13"/>
          <p:cNvSpPr/>
          <p:nvPr/>
        </p:nvSpPr>
        <p:spPr>
          <a:xfrm>
            <a:off x="640080" y="6446520"/>
            <a:ext cx="274320" cy="274320"/>
          </a:xfrm>
          <a:prstGeom prst="ellipse">
            <a:avLst/>
          </a:prstGeom>
          <a:solidFill>
            <a:srgbClr val="38BDF8"/>
          </a:solidFill>
          <a:ln/>
        </p:spPr>
      </p:sp>
      <p:pic>
        <p:nvPicPr>
          <p:cNvPr id="20" name="Image 4" descr="preencoded.png">    </p:cNvPr>
          <p:cNvPicPr>
            <a:picLocks noChangeAspect="1"/>
          </p:cNvPicPr>
          <p:nvPr/>
        </p:nvPicPr>
        <p:blipFill>
          <a:blip r:embed="rId5"/>
          <a:stretch>
            <a:fillRect/>
          </a:stretch>
        </p:blipFill>
        <p:spPr>
          <a:xfrm>
            <a:off x="701802" y="6508242"/>
            <a:ext cx="150876" cy="150876"/>
          </a:xfrm>
          <a:prstGeom prst="rect">
            <a:avLst/>
          </a:prstGeom>
        </p:spPr>
      </p:pic>
      <p:sp>
        <p:nvSpPr>
          <p:cNvPr id="21" name="Text 14"/>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Daniel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Respaldos y </a:t>
            </a:r>
            <a:pPr algn="l" indent="0" marL="0">
              <a:buNone/>
            </a:pPr>
            <a:r>
              <a:rPr lang="en-US" sz="3200" b="1" dirty="0">
                <a:solidFill>
                  <a:srgbClr val="38BDF8"/>
                </a:solidFill>
                <a:latin typeface="Calibri" pitchFamily="34" charset="0"/>
                <a:ea typeface="Calibri" pitchFamily="34" charset="-122"/>
                <a:cs typeface="Calibri" pitchFamily="34" charset="-120"/>
              </a:rPr>
              <a:t>Recuperación</a:t>
            </a:r>
            <a:endParaRPr lang="en-US" sz="3200" dirty="0"/>
          </a:p>
        </p:txBody>
      </p:sp>
      <p:sp>
        <p:nvSpPr>
          <p:cNvPr id="3" name="Shape 1"/>
          <p:cNvSpPr/>
          <p:nvPr/>
        </p:nvSpPr>
        <p:spPr>
          <a:xfrm>
            <a:off x="640080" y="1764792"/>
            <a:ext cx="457200" cy="457200"/>
          </a:xfrm>
          <a:prstGeom prst="ellipse">
            <a:avLst/>
          </a:prstGeom>
          <a:solidFill>
            <a:srgbClr val="38BDF8"/>
          </a:solidFill>
          <a:ln/>
        </p:spPr>
      </p:sp>
      <p:pic>
        <p:nvPicPr>
          <p:cNvPr id="4" name="Image 0" descr="preencoded.png">    </p:cNvPr>
          <p:cNvPicPr>
            <a:picLocks noChangeAspect="1"/>
          </p:cNvPicPr>
          <p:nvPr/>
        </p:nvPicPr>
        <p:blipFill>
          <a:blip r:embed="rId1"/>
          <a:stretch>
            <a:fillRect/>
          </a:stretch>
        </p:blipFill>
        <p:spPr>
          <a:xfrm>
            <a:off x="742950" y="1867662"/>
            <a:ext cx="251460" cy="251460"/>
          </a:xfrm>
          <a:prstGeom prst="rect">
            <a:avLst/>
          </a:prstGeom>
        </p:spPr>
      </p:pic>
      <p:sp>
        <p:nvSpPr>
          <p:cNvPr id="5" name="Text 2"/>
          <p:cNvSpPr/>
          <p:nvPr/>
        </p:nvSpPr>
        <p:spPr>
          <a:xfrm>
            <a:off x="1298448" y="1737360"/>
            <a:ext cx="5760720" cy="1143000"/>
          </a:xfrm>
          <a:prstGeom prst="rect">
            <a:avLst/>
          </a:prstGeom>
          <a:noFill/>
          <a:ln/>
        </p:spPr>
        <p:txBody>
          <a:bodyPr wrap="square" rtlCol="0" anchor="t"/>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Utilitario mysqldump: </a:t>
            </a:r>
            <a:pPr indent="0" marL="0">
              <a:lnSpc>
                <a:spcPct val="115000"/>
              </a:lnSpc>
              <a:buNone/>
            </a:pPr>
            <a:r>
              <a:rPr lang="en-US" sz="1300" dirty="0">
                <a:solidFill>
                  <a:srgbClr val="C9D6E5"/>
                </a:solidFill>
                <a:latin typeface="Calibri" pitchFamily="34" charset="0"/>
                <a:ea typeface="Calibri" pitchFamily="34" charset="-122"/>
                <a:cs typeface="Calibri" pitchFamily="34" charset="-120"/>
              </a:rPr>
              <a:t>Política de generación de respaldos lógicos exportando tanto la estructura (DDL) como los datos (DML).</a:t>
            </a:r>
            <a:endParaRPr lang="en-US" sz="1300" dirty="0"/>
          </a:p>
        </p:txBody>
      </p:sp>
      <p:sp>
        <p:nvSpPr>
          <p:cNvPr id="6" name="Shape 3"/>
          <p:cNvSpPr/>
          <p:nvPr/>
        </p:nvSpPr>
        <p:spPr>
          <a:xfrm>
            <a:off x="640080" y="2907792"/>
            <a:ext cx="457200" cy="457200"/>
          </a:xfrm>
          <a:prstGeom prst="ellipse">
            <a:avLst/>
          </a:prstGeom>
          <a:solidFill>
            <a:srgbClr val="8B5CF6"/>
          </a:solidFill>
          <a:ln/>
        </p:spPr>
      </p:sp>
      <p:pic>
        <p:nvPicPr>
          <p:cNvPr id="7" name="Image 1" descr="preencoded.png">    </p:cNvPr>
          <p:cNvPicPr>
            <a:picLocks noChangeAspect="1"/>
          </p:cNvPicPr>
          <p:nvPr/>
        </p:nvPicPr>
        <p:blipFill>
          <a:blip r:embed="rId2"/>
          <a:stretch>
            <a:fillRect/>
          </a:stretch>
        </p:blipFill>
        <p:spPr>
          <a:xfrm>
            <a:off x="742950" y="3010662"/>
            <a:ext cx="251460" cy="251460"/>
          </a:xfrm>
          <a:prstGeom prst="rect">
            <a:avLst/>
          </a:prstGeom>
        </p:spPr>
      </p:pic>
      <p:sp>
        <p:nvSpPr>
          <p:cNvPr id="8" name="Text 4"/>
          <p:cNvSpPr/>
          <p:nvPr/>
        </p:nvSpPr>
        <p:spPr>
          <a:xfrm>
            <a:off x="1298448" y="2880360"/>
            <a:ext cx="5760720" cy="1143000"/>
          </a:xfrm>
          <a:prstGeom prst="rect">
            <a:avLst/>
          </a:prstGeom>
          <a:noFill/>
          <a:ln/>
        </p:spPr>
        <p:txBody>
          <a:bodyPr wrap="square" rtlCol="0" anchor="t"/>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Bitácora de Control: </a:t>
            </a:r>
            <a:pPr indent="0" marL="0">
              <a:lnSpc>
                <a:spcPct val="115000"/>
              </a:lnSpc>
              <a:buNone/>
            </a:pPr>
            <a:r>
              <a:rPr lang="en-US" sz="1300" dirty="0">
                <a:solidFill>
                  <a:srgbClr val="C9D6E5"/>
                </a:solidFill>
                <a:latin typeface="Calibri" pitchFamily="34" charset="0"/>
                <a:ea typeface="Calibri" pitchFamily="34" charset="-122"/>
                <a:cs typeface="Calibri" pitchFamily="34" charset="-120"/>
              </a:rPr>
              <a:t>Tabla independiente registro_respaldos gestionada por el DBA para dejar constancia de la hora y el usuario que generó el backup.</a:t>
            </a:r>
            <a:endParaRPr lang="en-US" sz="1300" dirty="0"/>
          </a:p>
        </p:txBody>
      </p:sp>
      <p:sp>
        <p:nvSpPr>
          <p:cNvPr id="9" name="Shape 5"/>
          <p:cNvSpPr/>
          <p:nvPr/>
        </p:nvSpPr>
        <p:spPr>
          <a:xfrm>
            <a:off x="640080" y="4050792"/>
            <a:ext cx="457200" cy="457200"/>
          </a:xfrm>
          <a:prstGeom prst="ellipse">
            <a:avLst/>
          </a:prstGeom>
          <a:solidFill>
            <a:srgbClr val="38BDF8"/>
          </a:solidFill>
          <a:ln/>
        </p:spPr>
      </p:sp>
      <p:pic>
        <p:nvPicPr>
          <p:cNvPr id="10" name="Image 2" descr="preencoded.png">    </p:cNvPr>
          <p:cNvPicPr>
            <a:picLocks noChangeAspect="1"/>
          </p:cNvPicPr>
          <p:nvPr/>
        </p:nvPicPr>
        <p:blipFill>
          <a:blip r:embed="rId3"/>
          <a:stretch>
            <a:fillRect/>
          </a:stretch>
        </p:blipFill>
        <p:spPr>
          <a:xfrm>
            <a:off x="742950" y="4153662"/>
            <a:ext cx="251460" cy="251460"/>
          </a:xfrm>
          <a:prstGeom prst="rect">
            <a:avLst/>
          </a:prstGeom>
        </p:spPr>
      </p:pic>
      <p:sp>
        <p:nvSpPr>
          <p:cNvPr id="11" name="Text 6"/>
          <p:cNvSpPr/>
          <p:nvPr/>
        </p:nvSpPr>
        <p:spPr>
          <a:xfrm>
            <a:off x="1298448" y="4023360"/>
            <a:ext cx="5760720" cy="1143000"/>
          </a:xfrm>
          <a:prstGeom prst="rect">
            <a:avLst/>
          </a:prstGeom>
          <a:noFill/>
          <a:ln/>
        </p:spPr>
        <p:txBody>
          <a:bodyPr wrap="square" rtlCol="0" anchor="t"/>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Separación de Responsabilidades: </a:t>
            </a:r>
            <a:pPr indent="0" marL="0">
              <a:lnSpc>
                <a:spcPct val="115000"/>
              </a:lnSpc>
              <a:buNone/>
            </a:pPr>
            <a:r>
              <a:rPr lang="en-US" sz="1300" dirty="0">
                <a:solidFill>
                  <a:srgbClr val="C9D6E5"/>
                </a:solidFill>
                <a:latin typeface="Calibri" pitchFamily="34" charset="0"/>
                <a:ea typeface="Calibri" pitchFamily="34" charset="-122"/>
                <a:cs typeface="Calibri" pitchFamily="34" charset="-120"/>
              </a:rPr>
              <a:t>La arquitectura de contingencia se aisló correctamente de las entidades comerciales (Core Business).</a:t>
            </a:r>
            <a:endParaRPr lang="en-US" sz="1300" dirty="0"/>
          </a:p>
        </p:txBody>
      </p:sp>
      <p:sp>
        <p:nvSpPr>
          <p:cNvPr id="12" name="Shape 7"/>
          <p:cNvSpPr/>
          <p:nvPr/>
        </p:nvSpPr>
        <p:spPr>
          <a:xfrm>
            <a:off x="6949440" y="2834640"/>
            <a:ext cx="1097280" cy="1097280"/>
          </a:xfrm>
          <a:prstGeom prst="ellipse">
            <a:avLst/>
          </a:prstGeom>
          <a:solidFill>
            <a:srgbClr val="1B2A45"/>
          </a:solidFill>
          <a:ln/>
        </p:spPr>
      </p:sp>
      <p:pic>
        <p:nvPicPr>
          <p:cNvPr id="13" name="Image 3" descr="preencoded.png">    </p:cNvPr>
          <p:cNvPicPr>
            <a:picLocks noChangeAspect="1"/>
          </p:cNvPicPr>
          <p:nvPr/>
        </p:nvPicPr>
        <p:blipFill>
          <a:blip r:embed="rId4"/>
          <a:stretch>
            <a:fillRect/>
          </a:stretch>
        </p:blipFill>
        <p:spPr>
          <a:xfrm>
            <a:off x="7251192" y="3136392"/>
            <a:ext cx="493776" cy="493776"/>
          </a:xfrm>
          <a:prstGeom prst="rect">
            <a:avLst/>
          </a:prstGeom>
        </p:spPr>
      </p:pic>
      <p:pic>
        <p:nvPicPr>
          <p:cNvPr id="14" name="Image 4" descr="preencoded.png">    </p:cNvPr>
          <p:cNvPicPr>
            <a:picLocks noChangeAspect="1"/>
          </p:cNvPicPr>
          <p:nvPr/>
        </p:nvPicPr>
        <p:blipFill>
          <a:blip r:embed="rId5"/>
          <a:stretch>
            <a:fillRect/>
          </a:stretch>
        </p:blipFill>
        <p:spPr>
          <a:xfrm>
            <a:off x="8366760" y="3154680"/>
            <a:ext cx="548640" cy="548640"/>
          </a:xfrm>
          <a:prstGeom prst="rect">
            <a:avLst/>
          </a:prstGeom>
        </p:spPr>
      </p:pic>
      <p:sp>
        <p:nvSpPr>
          <p:cNvPr id="15" name="Shape 8"/>
          <p:cNvSpPr/>
          <p:nvPr/>
        </p:nvSpPr>
        <p:spPr>
          <a:xfrm>
            <a:off x="9235440" y="2743200"/>
            <a:ext cx="1280160" cy="1280160"/>
          </a:xfrm>
          <a:prstGeom prst="ellipse">
            <a:avLst/>
          </a:prstGeom>
          <a:solidFill>
            <a:srgbClr val="38BDF8"/>
          </a:solidFill>
          <a:ln/>
        </p:spPr>
      </p:sp>
      <p:pic>
        <p:nvPicPr>
          <p:cNvPr id="16" name="Image 5" descr="preencoded.png">    </p:cNvPr>
          <p:cNvPicPr>
            <a:picLocks noChangeAspect="1"/>
          </p:cNvPicPr>
          <p:nvPr/>
        </p:nvPicPr>
        <p:blipFill>
          <a:blip r:embed="rId6"/>
          <a:stretch>
            <a:fillRect/>
          </a:stretch>
        </p:blipFill>
        <p:spPr>
          <a:xfrm>
            <a:off x="9555480" y="3063240"/>
            <a:ext cx="640080" cy="640080"/>
          </a:xfrm>
          <a:prstGeom prst="rect">
            <a:avLst/>
          </a:prstGeom>
        </p:spPr>
      </p:pic>
      <p:sp>
        <p:nvSpPr>
          <p:cNvPr id="17" name="Text 9"/>
          <p:cNvSpPr/>
          <p:nvPr/>
        </p:nvSpPr>
        <p:spPr>
          <a:xfrm>
            <a:off x="6675120" y="4160520"/>
            <a:ext cx="3566160" cy="365760"/>
          </a:xfrm>
          <a:prstGeom prst="rect">
            <a:avLst/>
          </a:prstGeom>
          <a:noFill/>
          <a:ln/>
        </p:spPr>
        <p:txBody>
          <a:bodyPr wrap="square" rtlCol="0" anchor="ctr"/>
          <a:lstStyle/>
          <a:p>
            <a:pPr algn="ctr" indent="0" marL="0">
              <a:buNone/>
            </a:pPr>
            <a:r>
              <a:rPr lang="en-US" sz="1200" i="1" dirty="0">
                <a:solidFill>
                  <a:srgbClr val="8FA3BF"/>
                </a:solidFill>
                <a:latin typeface="Calibri" pitchFamily="34" charset="0"/>
                <a:ea typeface="Calibri" pitchFamily="34" charset="-122"/>
                <a:cs typeface="Calibri" pitchFamily="34" charset="-120"/>
              </a:rPr>
              <a:t>Respaldo automatizado</a:t>
            </a:r>
            <a:endParaRPr lang="en-US" sz="1200" dirty="0"/>
          </a:p>
        </p:txBody>
      </p:sp>
      <p:sp>
        <p:nvSpPr>
          <p:cNvPr id="18" name="Shape 10"/>
          <p:cNvSpPr/>
          <p:nvPr/>
        </p:nvSpPr>
        <p:spPr>
          <a:xfrm>
            <a:off x="640080" y="6446520"/>
            <a:ext cx="274320" cy="274320"/>
          </a:xfrm>
          <a:prstGeom prst="ellipse">
            <a:avLst/>
          </a:prstGeom>
          <a:solidFill>
            <a:srgbClr val="38BDF8"/>
          </a:solidFill>
          <a:ln/>
        </p:spPr>
      </p:sp>
      <p:pic>
        <p:nvPicPr>
          <p:cNvPr id="19" name="Image 6" descr="preencoded.png">    </p:cNvPr>
          <p:cNvPicPr>
            <a:picLocks noChangeAspect="1"/>
          </p:cNvPicPr>
          <p:nvPr/>
        </p:nvPicPr>
        <p:blipFill>
          <a:blip r:embed="rId7"/>
          <a:stretch>
            <a:fillRect/>
          </a:stretch>
        </p:blipFill>
        <p:spPr>
          <a:xfrm>
            <a:off x="701802" y="6508242"/>
            <a:ext cx="150876" cy="150876"/>
          </a:xfrm>
          <a:prstGeom prst="rect">
            <a:avLst/>
          </a:prstGeom>
        </p:spPr>
      </p:pic>
      <p:sp>
        <p:nvSpPr>
          <p:cNvPr id="20" name="Text 11"/>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Daniel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Conclusiones del </a:t>
            </a:r>
            <a:pPr algn="l" indent="0" marL="0">
              <a:buNone/>
            </a:pPr>
            <a:r>
              <a:rPr lang="en-US" sz="3200" b="1" dirty="0">
                <a:solidFill>
                  <a:srgbClr val="38BDF8"/>
                </a:solidFill>
                <a:latin typeface="Calibri" pitchFamily="34" charset="0"/>
                <a:ea typeface="Calibri" pitchFamily="34" charset="-122"/>
                <a:cs typeface="Calibri" pitchFamily="34" charset="-120"/>
              </a:rPr>
              <a:t>Proyecto</a:t>
            </a:r>
            <a:endParaRPr lang="en-US" sz="3200" dirty="0"/>
          </a:p>
        </p:txBody>
      </p:sp>
      <p:sp>
        <p:nvSpPr>
          <p:cNvPr id="3" name="Shape 1"/>
          <p:cNvSpPr/>
          <p:nvPr/>
        </p:nvSpPr>
        <p:spPr>
          <a:xfrm>
            <a:off x="640080" y="1828800"/>
            <a:ext cx="10911535" cy="1234440"/>
          </a:xfrm>
          <a:prstGeom prst="roundRect">
            <a:avLst>
              <a:gd name="adj" fmla="val 8889"/>
            </a:avLst>
          </a:prstGeom>
          <a:solidFill>
            <a:srgbClr val="15223A"/>
          </a:solidFill>
          <a:ln/>
          <a:effectLst>
            <a:outerShdw sx="100000" sy="100000" kx="0" ky="0" algn="bl" rotWithShape="0" blurRad="101600" dist="38100" dir="5400000">
              <a:srgbClr val="000000">
                <a:alpha val="35000"/>
              </a:srgbClr>
            </a:outerShdw>
          </a:effectLst>
        </p:spPr>
      </p:sp>
      <p:sp>
        <p:nvSpPr>
          <p:cNvPr id="4" name="Shape 2"/>
          <p:cNvSpPr/>
          <p:nvPr/>
        </p:nvSpPr>
        <p:spPr>
          <a:xfrm>
            <a:off x="914400" y="2199132"/>
            <a:ext cx="493776" cy="493776"/>
          </a:xfrm>
          <a:prstGeom prst="ellipse">
            <a:avLst/>
          </a:prstGeom>
          <a:solidFill>
            <a:srgbClr val="38BDF8"/>
          </a:solidFill>
          <a:ln/>
        </p:spPr>
      </p:sp>
      <p:pic>
        <p:nvPicPr>
          <p:cNvPr id="5" name="Image 0" descr="preencoded.png">    </p:cNvPr>
          <p:cNvPicPr>
            <a:picLocks noChangeAspect="1"/>
          </p:cNvPicPr>
          <p:nvPr/>
        </p:nvPicPr>
        <p:blipFill>
          <a:blip r:embed="rId1"/>
          <a:stretch>
            <a:fillRect/>
          </a:stretch>
        </p:blipFill>
        <p:spPr>
          <a:xfrm>
            <a:off x="1025500" y="2310232"/>
            <a:ext cx="271577" cy="271577"/>
          </a:xfrm>
          <a:prstGeom prst="rect">
            <a:avLst/>
          </a:prstGeom>
        </p:spPr>
      </p:pic>
      <p:sp>
        <p:nvSpPr>
          <p:cNvPr id="6" name="Text 3"/>
          <p:cNvSpPr/>
          <p:nvPr/>
        </p:nvSpPr>
        <p:spPr>
          <a:xfrm>
            <a:off x="1600200" y="1828800"/>
            <a:ext cx="9677095" cy="1234440"/>
          </a:xfrm>
          <a:prstGeom prst="rect">
            <a:avLst/>
          </a:prstGeom>
          <a:noFill/>
          <a:ln/>
        </p:spPr>
        <p:txBody>
          <a:bodyPr wrap="square" rtlCol="0" anchor="ctr"/>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Normalización Exitosa: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Se estructuró la base de datos hasta la 3FN, asegurando integridad referencial y eliminando las redundancias críticas heredadas del sistema anterior.</a:t>
            </a:r>
            <a:endParaRPr lang="en-US" sz="1350" dirty="0"/>
          </a:p>
        </p:txBody>
      </p:sp>
      <p:sp>
        <p:nvSpPr>
          <p:cNvPr id="7" name="Shape 4"/>
          <p:cNvSpPr/>
          <p:nvPr/>
        </p:nvSpPr>
        <p:spPr>
          <a:xfrm>
            <a:off x="640080" y="3291840"/>
            <a:ext cx="10911535" cy="1234440"/>
          </a:xfrm>
          <a:prstGeom prst="roundRect">
            <a:avLst>
              <a:gd name="adj" fmla="val 8889"/>
            </a:avLst>
          </a:prstGeom>
          <a:solidFill>
            <a:srgbClr val="15223A"/>
          </a:solidFill>
          <a:ln/>
          <a:effectLst>
            <a:outerShdw sx="100000" sy="100000" kx="0" ky="0" algn="bl" rotWithShape="0" blurRad="101600" dist="38100" dir="5400000">
              <a:srgbClr val="000000">
                <a:alpha val="35000"/>
              </a:srgbClr>
            </a:outerShdw>
          </a:effectLst>
        </p:spPr>
      </p:sp>
      <p:sp>
        <p:nvSpPr>
          <p:cNvPr id="8" name="Shape 5"/>
          <p:cNvSpPr/>
          <p:nvPr/>
        </p:nvSpPr>
        <p:spPr>
          <a:xfrm>
            <a:off x="914400" y="3662172"/>
            <a:ext cx="493776" cy="493776"/>
          </a:xfrm>
          <a:prstGeom prst="ellipse">
            <a:avLst/>
          </a:prstGeom>
          <a:solidFill>
            <a:srgbClr val="8B5CF6"/>
          </a:solidFill>
          <a:ln/>
        </p:spPr>
      </p:sp>
      <p:pic>
        <p:nvPicPr>
          <p:cNvPr id="9" name="Image 1" descr="preencoded.png">    </p:cNvPr>
          <p:cNvPicPr>
            <a:picLocks noChangeAspect="1"/>
          </p:cNvPicPr>
          <p:nvPr/>
        </p:nvPicPr>
        <p:blipFill>
          <a:blip r:embed="rId2"/>
          <a:stretch>
            <a:fillRect/>
          </a:stretch>
        </p:blipFill>
        <p:spPr>
          <a:xfrm>
            <a:off x="1025500" y="3773272"/>
            <a:ext cx="271577" cy="271577"/>
          </a:xfrm>
          <a:prstGeom prst="rect">
            <a:avLst/>
          </a:prstGeom>
        </p:spPr>
      </p:pic>
      <p:sp>
        <p:nvSpPr>
          <p:cNvPr id="10" name="Text 6"/>
          <p:cNvSpPr/>
          <p:nvPr/>
        </p:nvSpPr>
        <p:spPr>
          <a:xfrm>
            <a:off x="1600200" y="3291840"/>
            <a:ext cx="9677095" cy="1234440"/>
          </a:xfrm>
          <a:prstGeom prst="rect">
            <a:avLst/>
          </a:prstGeom>
          <a:noFill/>
          <a:ln/>
        </p:spPr>
        <p:txBody>
          <a:bodyPr wrap="square" rtlCol="0" anchor="ctr"/>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Automatización Operativa: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El uso orquestado de Triggers y Procedimientos Almacenados probó ser efectivo para manejar inventarios en tiempo real y evitar errores humanos.</a:t>
            </a:r>
            <a:endParaRPr lang="en-US" sz="1350" dirty="0"/>
          </a:p>
        </p:txBody>
      </p:sp>
      <p:sp>
        <p:nvSpPr>
          <p:cNvPr id="11" name="Shape 7"/>
          <p:cNvSpPr/>
          <p:nvPr/>
        </p:nvSpPr>
        <p:spPr>
          <a:xfrm>
            <a:off x="640080" y="4754880"/>
            <a:ext cx="10911535" cy="1234440"/>
          </a:xfrm>
          <a:prstGeom prst="roundRect">
            <a:avLst>
              <a:gd name="adj" fmla="val 8889"/>
            </a:avLst>
          </a:prstGeom>
          <a:solidFill>
            <a:srgbClr val="15223A"/>
          </a:solidFill>
          <a:ln/>
          <a:effectLst>
            <a:outerShdw sx="100000" sy="100000" kx="0" ky="0" algn="bl" rotWithShape="0" blurRad="101600" dist="38100" dir="5400000">
              <a:srgbClr val="000000">
                <a:alpha val="35000"/>
              </a:srgbClr>
            </a:outerShdw>
          </a:effectLst>
        </p:spPr>
      </p:sp>
      <p:sp>
        <p:nvSpPr>
          <p:cNvPr id="12" name="Shape 8"/>
          <p:cNvSpPr/>
          <p:nvPr/>
        </p:nvSpPr>
        <p:spPr>
          <a:xfrm>
            <a:off x="914400" y="5125212"/>
            <a:ext cx="493776" cy="493776"/>
          </a:xfrm>
          <a:prstGeom prst="ellipse">
            <a:avLst/>
          </a:prstGeom>
          <a:solidFill>
            <a:srgbClr val="38BDF8"/>
          </a:solidFill>
          <a:ln/>
        </p:spPr>
      </p:sp>
      <p:pic>
        <p:nvPicPr>
          <p:cNvPr id="13" name="Image 2" descr="preencoded.png">    </p:cNvPr>
          <p:cNvPicPr>
            <a:picLocks noChangeAspect="1"/>
          </p:cNvPicPr>
          <p:nvPr/>
        </p:nvPicPr>
        <p:blipFill>
          <a:blip r:embed="rId3"/>
          <a:stretch>
            <a:fillRect/>
          </a:stretch>
        </p:blipFill>
        <p:spPr>
          <a:xfrm>
            <a:off x="1025500" y="5236312"/>
            <a:ext cx="271577" cy="271577"/>
          </a:xfrm>
          <a:prstGeom prst="rect">
            <a:avLst/>
          </a:prstGeom>
        </p:spPr>
      </p:pic>
      <p:sp>
        <p:nvSpPr>
          <p:cNvPr id="14" name="Text 9"/>
          <p:cNvSpPr/>
          <p:nvPr/>
        </p:nvSpPr>
        <p:spPr>
          <a:xfrm>
            <a:off x="1600200" y="4754880"/>
            <a:ext cx="9677095" cy="1234440"/>
          </a:xfrm>
          <a:prstGeom prst="rect">
            <a:avLst/>
          </a:prstGeom>
          <a:noFill/>
          <a:ln/>
        </p:spPr>
        <p:txBody>
          <a:bodyPr wrap="square" rtlCol="0" anchor="ctr"/>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Seguridad Integral: </a:t>
            </a:r>
            <a:pPr indent="0" marL="0">
              <a:lnSpc>
                <a:spcPct val="115000"/>
              </a:lnSpc>
              <a:buNone/>
            </a:pPr>
            <a:r>
              <a:rPr lang="en-US" sz="1350" dirty="0">
                <a:solidFill>
                  <a:srgbClr val="C9D6E5"/>
                </a:solidFill>
                <a:latin typeface="Calibri" pitchFamily="34" charset="0"/>
                <a:ea typeface="Calibri" pitchFamily="34" charset="-122"/>
                <a:cs typeface="Calibri" pitchFamily="34" charset="-120"/>
              </a:rPr>
              <a:t>El diseño de transacciones ACID blindó las finanzas, mientras que el modelo RBAC aseguró que la información esté protegida frente a accesos no autorizados.</a:t>
            </a:r>
            <a:endParaRPr lang="en-US" sz="1350" dirty="0"/>
          </a:p>
        </p:txBody>
      </p:sp>
      <p:sp>
        <p:nvSpPr>
          <p:cNvPr id="15" name="Shape 10"/>
          <p:cNvSpPr/>
          <p:nvPr/>
        </p:nvSpPr>
        <p:spPr>
          <a:xfrm>
            <a:off x="640080" y="6446520"/>
            <a:ext cx="274320" cy="274320"/>
          </a:xfrm>
          <a:prstGeom prst="ellipse">
            <a:avLst/>
          </a:prstGeom>
          <a:solidFill>
            <a:srgbClr val="38BDF8"/>
          </a:solidFill>
          <a:ln/>
        </p:spPr>
      </p:sp>
      <p:pic>
        <p:nvPicPr>
          <p:cNvPr id="16" name="Image 3" descr="preencoded.png">    </p:cNvPr>
          <p:cNvPicPr>
            <a:picLocks noChangeAspect="1"/>
          </p:cNvPicPr>
          <p:nvPr/>
        </p:nvPicPr>
        <p:blipFill>
          <a:blip r:embed="rId4"/>
          <a:stretch>
            <a:fillRect/>
          </a:stretch>
        </p:blipFill>
        <p:spPr>
          <a:xfrm>
            <a:off x="701802" y="6508242"/>
            <a:ext cx="150876" cy="150876"/>
          </a:xfrm>
          <a:prstGeom prst="rect">
            <a:avLst/>
          </a:prstGeom>
        </p:spPr>
      </p:pic>
      <p:sp>
        <p:nvSpPr>
          <p:cNvPr id="17" name="Text 11"/>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María José</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Siguientes </a:t>
            </a:r>
            <a:pPr algn="l" indent="0" marL="0">
              <a:buNone/>
            </a:pPr>
            <a:r>
              <a:rPr lang="en-US" sz="3200" b="1" dirty="0">
                <a:solidFill>
                  <a:srgbClr val="38BDF8"/>
                </a:solidFill>
                <a:latin typeface="Calibri" pitchFamily="34" charset="0"/>
                <a:ea typeface="Calibri" pitchFamily="34" charset="-122"/>
                <a:cs typeface="Calibri" pitchFamily="34" charset="-120"/>
              </a:rPr>
              <a:t>Pasos</a:t>
            </a:r>
            <a:pPr algn="l" indent="0" marL="0">
              <a:buNone/>
            </a:pPr>
            <a:r>
              <a:rPr lang="en-US" sz="3200" b="1" dirty="0">
                <a:solidFill>
                  <a:srgbClr val="FFFFFF"/>
                </a:solidFill>
                <a:latin typeface="Calibri" pitchFamily="34" charset="0"/>
                <a:ea typeface="Calibri" pitchFamily="34" charset="-122"/>
                <a:cs typeface="Calibri" pitchFamily="34" charset="-120"/>
              </a:rPr>
              <a:t> y Recomendaciones</a:t>
            </a:r>
            <a:endParaRPr lang="en-US" sz="3200" dirty="0"/>
          </a:p>
        </p:txBody>
      </p:sp>
      <p:sp>
        <p:nvSpPr>
          <p:cNvPr id="3" name="Shape 1"/>
          <p:cNvSpPr/>
          <p:nvPr/>
        </p:nvSpPr>
        <p:spPr>
          <a:xfrm>
            <a:off x="640080" y="1828800"/>
            <a:ext cx="10911535" cy="1234440"/>
          </a:xfrm>
          <a:prstGeom prst="roundRect">
            <a:avLst>
              <a:gd name="adj" fmla="val 8889"/>
            </a:avLst>
          </a:prstGeom>
          <a:solidFill>
            <a:srgbClr val="15223A"/>
          </a:solidFill>
          <a:ln/>
          <a:effectLst>
            <a:outerShdw sx="100000" sy="100000" kx="0" ky="0" algn="bl" rotWithShape="0" blurRad="101600" dist="38100" dir="5400000">
              <a:srgbClr val="000000">
                <a:alpha val="35000"/>
              </a:srgbClr>
            </a:outerShdw>
          </a:effectLst>
        </p:spPr>
      </p:sp>
      <p:sp>
        <p:nvSpPr>
          <p:cNvPr id="4" name="Shape 2"/>
          <p:cNvSpPr/>
          <p:nvPr/>
        </p:nvSpPr>
        <p:spPr>
          <a:xfrm>
            <a:off x="914400" y="2199132"/>
            <a:ext cx="493776" cy="493776"/>
          </a:xfrm>
          <a:prstGeom prst="ellipse">
            <a:avLst/>
          </a:prstGeom>
          <a:solidFill>
            <a:srgbClr val="38BDF8"/>
          </a:solidFill>
          <a:ln/>
        </p:spPr>
      </p:sp>
      <p:pic>
        <p:nvPicPr>
          <p:cNvPr id="5" name="Image 0" descr="preencoded.png">    </p:cNvPr>
          <p:cNvPicPr>
            <a:picLocks noChangeAspect="1"/>
          </p:cNvPicPr>
          <p:nvPr/>
        </p:nvPicPr>
        <p:blipFill>
          <a:blip r:embed="rId1"/>
          <a:stretch>
            <a:fillRect/>
          </a:stretch>
        </p:blipFill>
        <p:spPr>
          <a:xfrm>
            <a:off x="1025500" y="2310232"/>
            <a:ext cx="271577" cy="271577"/>
          </a:xfrm>
          <a:prstGeom prst="rect">
            <a:avLst/>
          </a:prstGeom>
        </p:spPr>
      </p:pic>
      <p:sp>
        <p:nvSpPr>
          <p:cNvPr id="6" name="Text 3"/>
          <p:cNvSpPr/>
          <p:nvPr/>
        </p:nvSpPr>
        <p:spPr>
          <a:xfrm>
            <a:off x="1600200" y="1828800"/>
            <a:ext cx="9677095" cy="1234440"/>
          </a:xfrm>
          <a:prstGeom prst="rect">
            <a:avLst/>
          </a:prstGeom>
          <a:noFill/>
          <a:ln/>
        </p:spPr>
        <p:txBody>
          <a:bodyPr wrap="square" rtlCol="0" anchor="ctr"/>
          <a:lstStyle/>
          <a:p>
            <a:pPr indent="0" marL="0">
              <a:lnSpc>
                <a:spcPct val="112000"/>
              </a:lnSpc>
              <a:buNone/>
            </a:pPr>
            <a:r>
              <a:rPr lang="en-US" sz="1300" b="1" dirty="0">
                <a:solidFill>
                  <a:srgbClr val="FFFFFF"/>
                </a:solidFill>
                <a:latin typeface="Calibri" pitchFamily="34" charset="0"/>
                <a:ea typeface="Calibri" pitchFamily="34" charset="-122"/>
                <a:cs typeface="Calibri" pitchFamily="34" charset="-120"/>
              </a:rPr>
              <a:t>Disaster Recovery Plan: </a:t>
            </a:r>
            <a:pPr indent="0" marL="0">
              <a:lnSpc>
                <a:spcPct val="112000"/>
              </a:lnSpc>
              <a:buNone/>
            </a:pPr>
            <a:r>
              <a:rPr lang="en-US" sz="1300" dirty="0">
                <a:solidFill>
                  <a:srgbClr val="C9D6E5"/>
                </a:solidFill>
                <a:latin typeface="Calibri" pitchFamily="34" charset="0"/>
                <a:ea typeface="Calibri" pitchFamily="34" charset="-122"/>
                <a:cs typeface="Calibri" pitchFamily="34" charset="-120"/>
              </a:rPr>
              <a:t>Se exige que los archivos de respaldo .sql sean migrados automáticamente a un repositorio en la nube, fuera de la infraestructura local.</a:t>
            </a:r>
            <a:endParaRPr lang="en-US" sz="1300" dirty="0"/>
          </a:p>
        </p:txBody>
      </p:sp>
      <p:sp>
        <p:nvSpPr>
          <p:cNvPr id="7" name="Shape 4"/>
          <p:cNvSpPr/>
          <p:nvPr/>
        </p:nvSpPr>
        <p:spPr>
          <a:xfrm>
            <a:off x="640080" y="3291840"/>
            <a:ext cx="10911535" cy="1234440"/>
          </a:xfrm>
          <a:prstGeom prst="roundRect">
            <a:avLst>
              <a:gd name="adj" fmla="val 8889"/>
            </a:avLst>
          </a:prstGeom>
          <a:solidFill>
            <a:srgbClr val="15223A"/>
          </a:solidFill>
          <a:ln/>
          <a:effectLst>
            <a:outerShdw sx="100000" sy="100000" kx="0" ky="0" algn="bl" rotWithShape="0" blurRad="101600" dist="38100" dir="5400000">
              <a:srgbClr val="000000">
                <a:alpha val="35000"/>
              </a:srgbClr>
            </a:outerShdw>
          </a:effectLst>
        </p:spPr>
      </p:sp>
      <p:sp>
        <p:nvSpPr>
          <p:cNvPr id="8" name="Shape 5"/>
          <p:cNvSpPr/>
          <p:nvPr/>
        </p:nvSpPr>
        <p:spPr>
          <a:xfrm>
            <a:off x="914400" y="3662172"/>
            <a:ext cx="493776" cy="493776"/>
          </a:xfrm>
          <a:prstGeom prst="ellipse">
            <a:avLst/>
          </a:prstGeom>
          <a:solidFill>
            <a:srgbClr val="8B5CF6"/>
          </a:solidFill>
          <a:ln/>
        </p:spPr>
      </p:sp>
      <p:pic>
        <p:nvPicPr>
          <p:cNvPr id="9" name="Image 1" descr="preencoded.png">    </p:cNvPr>
          <p:cNvPicPr>
            <a:picLocks noChangeAspect="1"/>
          </p:cNvPicPr>
          <p:nvPr/>
        </p:nvPicPr>
        <p:blipFill>
          <a:blip r:embed="rId2"/>
          <a:stretch>
            <a:fillRect/>
          </a:stretch>
        </p:blipFill>
        <p:spPr>
          <a:xfrm>
            <a:off x="1025500" y="3773272"/>
            <a:ext cx="271577" cy="271577"/>
          </a:xfrm>
          <a:prstGeom prst="rect">
            <a:avLst/>
          </a:prstGeom>
        </p:spPr>
      </p:pic>
      <p:sp>
        <p:nvSpPr>
          <p:cNvPr id="10" name="Text 6"/>
          <p:cNvSpPr/>
          <p:nvPr/>
        </p:nvSpPr>
        <p:spPr>
          <a:xfrm>
            <a:off x="1600200" y="3291840"/>
            <a:ext cx="9677095" cy="1234440"/>
          </a:xfrm>
          <a:prstGeom prst="rect">
            <a:avLst/>
          </a:prstGeom>
          <a:noFill/>
          <a:ln/>
        </p:spPr>
        <p:txBody>
          <a:bodyPr wrap="square" rtlCol="0" anchor="ctr"/>
          <a:lstStyle/>
          <a:p>
            <a:pPr indent="0" marL="0">
              <a:lnSpc>
                <a:spcPct val="112000"/>
              </a:lnSpc>
              <a:buNone/>
            </a:pPr>
            <a:r>
              <a:rPr lang="en-US" sz="1300" b="1" dirty="0">
                <a:solidFill>
                  <a:srgbClr val="FFFFFF"/>
                </a:solidFill>
                <a:latin typeface="Calibri" pitchFamily="34" charset="0"/>
                <a:ea typeface="Calibri" pitchFamily="34" charset="-122"/>
                <a:cs typeface="Calibri" pitchFamily="34" charset="-120"/>
              </a:rPr>
              <a:t>Notificaciones Activas: </a:t>
            </a:r>
            <a:pPr indent="0" marL="0">
              <a:lnSpc>
                <a:spcPct val="112000"/>
              </a:lnSpc>
              <a:buNone/>
            </a:pPr>
            <a:r>
              <a:rPr lang="en-US" sz="1300" dirty="0">
                <a:solidFill>
                  <a:srgbClr val="C9D6E5"/>
                </a:solidFill>
                <a:latin typeface="Calibri" pitchFamily="34" charset="0"/>
                <a:ea typeface="Calibri" pitchFamily="34" charset="-122"/>
                <a:cs typeface="Calibri" pitchFamily="34" charset="-120"/>
              </a:rPr>
              <a:t>Integrar la vista de ProductosBajoStock a un backend que envíe correos automatizados a la gerencia de logística para agilizar la reposición.</a:t>
            </a:r>
            <a:endParaRPr lang="en-US" sz="1300" dirty="0"/>
          </a:p>
        </p:txBody>
      </p:sp>
      <p:sp>
        <p:nvSpPr>
          <p:cNvPr id="11" name="Shape 7"/>
          <p:cNvSpPr/>
          <p:nvPr/>
        </p:nvSpPr>
        <p:spPr>
          <a:xfrm>
            <a:off x="640080" y="4754880"/>
            <a:ext cx="10911535" cy="1234440"/>
          </a:xfrm>
          <a:prstGeom prst="roundRect">
            <a:avLst>
              <a:gd name="adj" fmla="val 8889"/>
            </a:avLst>
          </a:prstGeom>
          <a:solidFill>
            <a:srgbClr val="15223A"/>
          </a:solidFill>
          <a:ln/>
          <a:effectLst>
            <a:outerShdw sx="100000" sy="100000" kx="0" ky="0" algn="bl" rotWithShape="0" blurRad="101600" dist="38100" dir="5400000">
              <a:srgbClr val="000000">
                <a:alpha val="35000"/>
              </a:srgbClr>
            </a:outerShdw>
          </a:effectLst>
        </p:spPr>
      </p:sp>
      <p:sp>
        <p:nvSpPr>
          <p:cNvPr id="12" name="Shape 8"/>
          <p:cNvSpPr/>
          <p:nvPr/>
        </p:nvSpPr>
        <p:spPr>
          <a:xfrm>
            <a:off x="914400" y="5125212"/>
            <a:ext cx="493776" cy="493776"/>
          </a:xfrm>
          <a:prstGeom prst="ellipse">
            <a:avLst/>
          </a:prstGeom>
          <a:solidFill>
            <a:srgbClr val="38BDF8"/>
          </a:solidFill>
          <a:ln/>
        </p:spPr>
      </p:sp>
      <p:pic>
        <p:nvPicPr>
          <p:cNvPr id="13" name="Image 2" descr="preencoded.png">    </p:cNvPr>
          <p:cNvPicPr>
            <a:picLocks noChangeAspect="1"/>
          </p:cNvPicPr>
          <p:nvPr/>
        </p:nvPicPr>
        <p:blipFill>
          <a:blip r:embed="rId3"/>
          <a:stretch>
            <a:fillRect/>
          </a:stretch>
        </p:blipFill>
        <p:spPr>
          <a:xfrm>
            <a:off x="1025500" y="5236312"/>
            <a:ext cx="271577" cy="271577"/>
          </a:xfrm>
          <a:prstGeom prst="rect">
            <a:avLst/>
          </a:prstGeom>
        </p:spPr>
      </p:pic>
      <p:sp>
        <p:nvSpPr>
          <p:cNvPr id="14" name="Text 9"/>
          <p:cNvSpPr/>
          <p:nvPr/>
        </p:nvSpPr>
        <p:spPr>
          <a:xfrm>
            <a:off x="1600200" y="4754880"/>
            <a:ext cx="9677095" cy="1234440"/>
          </a:xfrm>
          <a:prstGeom prst="rect">
            <a:avLst/>
          </a:prstGeom>
          <a:noFill/>
          <a:ln/>
        </p:spPr>
        <p:txBody>
          <a:bodyPr wrap="square" rtlCol="0" anchor="ctr"/>
          <a:lstStyle/>
          <a:p>
            <a:pPr indent="0" marL="0">
              <a:lnSpc>
                <a:spcPct val="112000"/>
              </a:lnSpc>
              <a:buNone/>
            </a:pPr>
            <a:r>
              <a:rPr lang="en-US" sz="1300" b="1" dirty="0">
                <a:solidFill>
                  <a:srgbClr val="FFFFFF"/>
                </a:solidFill>
                <a:latin typeface="Calibri" pitchFamily="34" charset="0"/>
                <a:ea typeface="Calibri" pitchFamily="34" charset="-122"/>
                <a:cs typeface="Calibri" pitchFamily="34" charset="-120"/>
              </a:rPr>
              <a:t>Mantenimiento Preventivo: </a:t>
            </a:r>
            <a:pPr indent="0" marL="0">
              <a:lnSpc>
                <a:spcPct val="112000"/>
              </a:lnSpc>
              <a:buNone/>
            </a:pPr>
            <a:r>
              <a:rPr lang="en-US" sz="1300" dirty="0">
                <a:solidFill>
                  <a:srgbClr val="C9D6E5"/>
                </a:solidFill>
                <a:latin typeface="Calibri" pitchFamily="34" charset="0"/>
                <a:ea typeface="Calibri" pitchFamily="34" charset="-122"/>
                <a:cs typeface="Calibri" pitchFamily="34" charset="-120"/>
              </a:rPr>
              <a:t>Configurar rutinas periódicas para depurar la tabla auditoria hacia un Data Warehouse, previniendo cuellos de botella por exceso de registros históricos.</a:t>
            </a:r>
            <a:endParaRPr lang="en-US" sz="1300" dirty="0"/>
          </a:p>
        </p:txBody>
      </p:sp>
      <p:sp>
        <p:nvSpPr>
          <p:cNvPr id="15" name="Shape 10"/>
          <p:cNvSpPr/>
          <p:nvPr/>
        </p:nvSpPr>
        <p:spPr>
          <a:xfrm>
            <a:off x="640080" y="6446520"/>
            <a:ext cx="274320" cy="274320"/>
          </a:xfrm>
          <a:prstGeom prst="ellipse">
            <a:avLst/>
          </a:prstGeom>
          <a:solidFill>
            <a:srgbClr val="38BDF8"/>
          </a:solidFill>
          <a:ln/>
        </p:spPr>
      </p:sp>
      <p:pic>
        <p:nvPicPr>
          <p:cNvPr id="16" name="Image 3" descr="preencoded.png">    </p:cNvPr>
          <p:cNvPicPr>
            <a:picLocks noChangeAspect="1"/>
          </p:cNvPicPr>
          <p:nvPr/>
        </p:nvPicPr>
        <p:blipFill>
          <a:blip r:embed="rId4"/>
          <a:stretch>
            <a:fillRect/>
          </a:stretch>
        </p:blipFill>
        <p:spPr>
          <a:xfrm>
            <a:off x="701802" y="6508242"/>
            <a:ext cx="150876" cy="150876"/>
          </a:xfrm>
          <a:prstGeom prst="rect">
            <a:avLst/>
          </a:prstGeom>
        </p:spPr>
      </p:pic>
      <p:sp>
        <p:nvSpPr>
          <p:cNvPr id="17" name="Text 11"/>
          <p:cNvSpPr/>
          <p:nvPr/>
        </p:nvSpPr>
        <p:spPr>
          <a:xfrm>
            <a:off x="987552" y="6400800"/>
            <a:ext cx="5486400" cy="292608"/>
          </a:xfrm>
          <a:prstGeom prst="rect">
            <a:avLst/>
          </a:prstGeom>
          <a:noFill/>
          <a:ln/>
        </p:spPr>
        <p:txBody>
          <a:bodyPr wrap="square" rtlCol="0" anchor="ctr"/>
          <a:lstStyle/>
          <a:p>
            <a:pPr indent="0" marL="0">
              <a:buNone/>
            </a:pPr>
            <a:r>
              <a:rPr lang="en-US" sz="1100" b="1" dirty="0">
                <a:solidFill>
                  <a:srgbClr val="8FA3BF"/>
                </a:solidFill>
                <a:latin typeface="Calibri" pitchFamily="34" charset="0"/>
                <a:ea typeface="Calibri" pitchFamily="34" charset="-122"/>
                <a:cs typeface="Calibri" pitchFamily="34" charset="-120"/>
              </a:rPr>
              <a:t>Expositor: Daniel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2000"/>
          </a:blip>
          <a:stretch>
            <a:fillRect/>
          </a:stretch>
        </p:blipFill>
        <p:spPr>
          <a:xfrm>
            <a:off x="-548640" y="-548640"/>
            <a:ext cx="2926080" cy="2926080"/>
          </a:xfrm>
          <a:prstGeom prst="rect">
            <a:avLst/>
          </a:prstGeom>
        </p:spPr>
      </p:pic>
      <p:sp>
        <p:nvSpPr>
          <p:cNvPr id="3" name="Shape 0"/>
          <p:cNvSpPr/>
          <p:nvPr/>
        </p:nvSpPr>
        <p:spPr>
          <a:xfrm>
            <a:off x="5684368" y="1737360"/>
            <a:ext cx="822960" cy="822960"/>
          </a:xfrm>
          <a:prstGeom prst="ellipse">
            <a:avLst/>
          </a:prstGeom>
          <a:solidFill>
            <a:srgbClr val="38BDF8"/>
          </a:solidFill>
          <a:ln/>
        </p:spPr>
      </p:sp>
      <p:pic>
        <p:nvPicPr>
          <p:cNvPr id="4" name="Image 1" descr="preencoded.png">    </p:cNvPr>
          <p:cNvPicPr>
            <a:picLocks noChangeAspect="1"/>
          </p:cNvPicPr>
          <p:nvPr/>
        </p:nvPicPr>
        <p:blipFill>
          <a:blip r:embed="rId2"/>
          <a:stretch>
            <a:fillRect/>
          </a:stretch>
        </p:blipFill>
        <p:spPr>
          <a:xfrm>
            <a:off x="5931256" y="1984248"/>
            <a:ext cx="329184" cy="329184"/>
          </a:xfrm>
          <a:prstGeom prst="rect">
            <a:avLst/>
          </a:prstGeom>
        </p:spPr>
      </p:pic>
      <p:sp>
        <p:nvSpPr>
          <p:cNvPr id="5" name="Text 1"/>
          <p:cNvSpPr/>
          <p:nvPr/>
        </p:nvSpPr>
        <p:spPr>
          <a:xfrm>
            <a:off x="731520" y="2788920"/>
            <a:ext cx="10728655" cy="91440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a:t>
            </a:r>
            <a:pPr algn="ctr" indent="0" marL="0">
              <a:buNone/>
            </a:pPr>
            <a:r>
              <a:rPr lang="en-US" sz="4400" b="1" dirty="0">
                <a:solidFill>
                  <a:srgbClr val="38BDF8"/>
                </a:solidFill>
                <a:latin typeface="Calibri" pitchFamily="34" charset="0"/>
                <a:ea typeface="Calibri" pitchFamily="34" charset="-122"/>
                <a:cs typeface="Calibri" pitchFamily="34" charset="-120"/>
              </a:rPr>
              <a:t>Preguntas</a:t>
            </a:r>
            <a:pPr algn="ctr" indent="0" marL="0">
              <a:buNone/>
            </a:pPr>
            <a:r>
              <a:rPr lang="en-US" sz="4400" b="1" dirty="0">
                <a:solidFill>
                  <a:srgbClr val="FFFFFF"/>
                </a:solidFill>
                <a:latin typeface="Calibri" pitchFamily="34" charset="0"/>
                <a:ea typeface="Calibri" pitchFamily="34" charset="-122"/>
                <a:cs typeface="Calibri" pitchFamily="34" charset="-120"/>
              </a:rPr>
              <a:t>?</a:t>
            </a:r>
            <a:endParaRPr lang="en-US" sz="4400" dirty="0"/>
          </a:p>
        </p:txBody>
      </p:sp>
      <p:sp>
        <p:nvSpPr>
          <p:cNvPr id="6" name="Text 2"/>
          <p:cNvSpPr/>
          <p:nvPr/>
        </p:nvSpPr>
        <p:spPr>
          <a:xfrm>
            <a:off x="1463040" y="3703320"/>
            <a:ext cx="9265615" cy="548640"/>
          </a:xfrm>
          <a:prstGeom prst="rect">
            <a:avLst/>
          </a:prstGeom>
          <a:noFill/>
          <a:ln/>
        </p:spPr>
        <p:txBody>
          <a:bodyPr wrap="square" rtlCol="0" anchor="ctr"/>
          <a:lstStyle/>
          <a:p>
            <a:pPr algn="ctr" indent="0" marL="0">
              <a:buNone/>
            </a:pPr>
            <a:r>
              <a:rPr lang="en-US" sz="1600" dirty="0">
                <a:solidFill>
                  <a:srgbClr val="C9D6E5"/>
                </a:solidFill>
                <a:latin typeface="Calibri" pitchFamily="34" charset="0"/>
                <a:ea typeface="Calibri" pitchFamily="34" charset="-122"/>
                <a:cs typeface="Calibri" pitchFamily="34" charset="-120"/>
              </a:rPr>
              <a:t>Gracias por su atención en la presentación del SistemaCalzado_2026.</a:t>
            </a:r>
            <a:endParaRPr lang="en-US" sz="1600" dirty="0"/>
          </a:p>
        </p:txBody>
      </p:sp>
      <p:sp>
        <p:nvSpPr>
          <p:cNvPr id="7" name="Shape 3"/>
          <p:cNvSpPr/>
          <p:nvPr/>
        </p:nvSpPr>
        <p:spPr>
          <a:xfrm>
            <a:off x="640080" y="6355080"/>
            <a:ext cx="292608" cy="292608"/>
          </a:xfrm>
          <a:prstGeom prst="ellipse">
            <a:avLst/>
          </a:prstGeom>
          <a:solidFill>
            <a:srgbClr val="38BDF8"/>
          </a:solidFill>
          <a:ln/>
        </p:spPr>
      </p:sp>
      <p:pic>
        <p:nvPicPr>
          <p:cNvPr id="8" name="Image 2" descr="preencoded.png">    </p:cNvPr>
          <p:cNvPicPr>
            <a:picLocks noChangeAspect="1"/>
          </p:cNvPicPr>
          <p:nvPr/>
        </p:nvPicPr>
        <p:blipFill>
          <a:blip r:embed="rId3"/>
          <a:stretch>
            <a:fillRect/>
          </a:stretch>
        </p:blipFill>
        <p:spPr>
          <a:xfrm>
            <a:off x="705917" y="6420917"/>
            <a:ext cx="160934" cy="160934"/>
          </a:xfrm>
          <a:prstGeom prst="rect">
            <a:avLst/>
          </a:prstGeom>
        </p:spPr>
      </p:pic>
      <p:sp>
        <p:nvSpPr>
          <p:cNvPr id="9" name="Text 4"/>
          <p:cNvSpPr/>
          <p:nvPr/>
        </p:nvSpPr>
        <p:spPr>
          <a:xfrm>
            <a:off x="1005840" y="6309360"/>
            <a:ext cx="7315200" cy="292608"/>
          </a:xfrm>
          <a:prstGeom prst="rect">
            <a:avLst/>
          </a:prstGeom>
          <a:noFill/>
          <a:ln/>
        </p:spPr>
        <p:txBody>
          <a:bodyPr wrap="square" rtlCol="0" anchor="ctr"/>
          <a:lstStyle/>
          <a:p>
            <a:pPr indent="0" marL="0">
              <a:buNone/>
            </a:pPr>
            <a:r>
              <a:rPr lang="en-US" sz="1200" b="1" dirty="0">
                <a:solidFill>
                  <a:srgbClr val="8FA3BF"/>
                </a:solidFill>
                <a:latin typeface="Calibri" pitchFamily="34" charset="0"/>
                <a:ea typeface="Calibri" pitchFamily="34" charset="-122"/>
                <a:cs typeface="Calibri" pitchFamily="34" charset="-120"/>
              </a:rPr>
              <a:t>Expositores: María José &amp; Daniel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2026-07-19T18:57:06Z</dcterms:created>
  <dcterms:modified xsi:type="dcterms:W3CDTF">2026-07-19T18:57:06Z</dcterms:modified>
</cp:coreProperties>
</file>